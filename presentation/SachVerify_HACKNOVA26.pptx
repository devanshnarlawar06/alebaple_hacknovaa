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6"/>
  </p:sldIdLst>
  <p:sldSz cy="10287000" cx="18288000"/>
  <p:notesSz cx="6858000" cy="9144000"/>
  <p:embeddedFontLst>
    <p:embeddedFont>
      <p:font typeface="Poppi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ZYfimeZbEX5paqcYoSwCC9tWT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18" Type="http://schemas.openxmlformats.org/officeDocument/2006/relationships/font" Target="fonts/Poppins-bold.fntdata"/><Relationship Id="rId19" Type="http://schemas.openxmlformats.org/officeDocument/2006/relationships/font" Target="fonts/Poppins-boldItalic.fntdata"/><Relationship Id="rId2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da3870ce27e571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da3870ce27e57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da3870ce27e571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hda3870ce27e57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jp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.png"/><Relationship Id="rId9" Type="http://schemas.openxmlformats.org/officeDocument/2006/relationships/image" Target="../media/image8.png"/><Relationship Id="rId10" Type="http://schemas.openxmlformats.org/officeDocument/2006/relationships/image" Target="../media/image2.png"/><Relationship Id="rId11" Type="http://schemas.openxmlformats.org/officeDocument/2006/relationships/image" Target="../media/image5.png"/><Relationship Id="rId12" Type="http://schemas.openxmlformats.org/officeDocument/2006/relationships/hyperlink" Target="https://github.com/DevanshNarlawar06/Alebaple_hacknova/tree/dev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image" Target="../media/image4.jpg"/><Relationship Id="rId10" Type="http://schemas.openxmlformats.org/officeDocument/2006/relationships/image" Target="../media/image2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4.jpg"/><Relationship Id="rId10" Type="http://schemas.openxmlformats.org/officeDocument/2006/relationships/image" Target="../media/image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image" Target="../media/image4.jpg"/><Relationship Id="rId10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4.jpg"/><Relationship Id="rId10" Type="http://schemas.openxmlformats.org/officeDocument/2006/relationships/image" Target="../media/image8.png"/><Relationship Id="rId11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image" Target="../media/image4.jpg"/><Relationship Id="rId10" Type="http://schemas.openxmlformats.org/officeDocument/2006/relationships/image" Target="../media/image2.png"/><Relationship Id="rId11" Type="http://schemas.openxmlformats.org/officeDocument/2006/relationships/image" Target="../media/image19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4.jpg"/><Relationship Id="rId10" Type="http://schemas.openxmlformats.org/officeDocument/2006/relationships/image" Target="../media/image8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image" Target="../media/image4.jpg"/><Relationship Id="rId10" Type="http://schemas.openxmlformats.org/officeDocument/2006/relationships/image" Target="../media/image2.png"/><Relationship Id="rId11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image" Target="../media/image4.jpg"/><Relationship Id="rId10" Type="http://schemas.openxmlformats.org/officeDocument/2006/relationships/image" Target="../media/image2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image" Target="../media/image2.png"/><Relationship Id="rId10" Type="http://schemas.openxmlformats.org/officeDocument/2006/relationships/image" Target="../media/image4.jpg"/><Relationship Id="rId11" Type="http://schemas.openxmlformats.org/officeDocument/2006/relationships/image" Target="../media/image5.png"/><Relationship Id="rId12" Type="http://schemas.openxmlformats.org/officeDocument/2006/relationships/hyperlink" Target="https://github.com/DevanshNarlawar06/Alebaple_hacknova/tree/de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da3870ce27e571c_0_32"/>
          <p:cNvSpPr/>
          <p:nvPr/>
        </p:nvSpPr>
        <p:spPr>
          <a:xfrm>
            <a:off x="1155335" y="702354"/>
            <a:ext cx="15991237" cy="1066133"/>
          </a:xfrm>
          <a:custGeom>
            <a:rect b="b" l="l" r="r" t="t"/>
            <a:pathLst>
              <a:path extrusionOk="0" h="1421511" w="21321649">
                <a:moveTo>
                  <a:pt x="0" y="255905"/>
                </a:moveTo>
                <a:cubicBezTo>
                  <a:pt x="0" y="114554"/>
                  <a:pt x="114554" y="0"/>
                  <a:pt x="255905" y="0"/>
                </a:cubicBezTo>
                <a:lnTo>
                  <a:pt x="21065744" y="0"/>
                </a:lnTo>
                <a:cubicBezTo>
                  <a:pt x="21207095" y="0"/>
                  <a:pt x="21321649" y="114554"/>
                  <a:pt x="21321649" y="255905"/>
                </a:cubicBezTo>
                <a:lnTo>
                  <a:pt x="21321649" y="1165606"/>
                </a:lnTo>
                <a:cubicBezTo>
                  <a:pt x="21321649" y="1306957"/>
                  <a:pt x="21207095" y="1421511"/>
                  <a:pt x="21065744" y="1421511"/>
                </a:cubicBezTo>
                <a:lnTo>
                  <a:pt x="255905" y="1421511"/>
                </a:lnTo>
                <a:cubicBezTo>
                  <a:pt x="114554" y="1421511"/>
                  <a:pt x="0" y="1306957"/>
                  <a:pt x="0" y="1165606"/>
                </a:cubicBezTo>
                <a:close/>
              </a:path>
            </a:pathLst>
          </a:custGeom>
          <a:solidFill>
            <a:srgbClr val="FFFFFF"/>
          </a:solidFill>
          <a:ln cap="sq" cmpd="sng" w="228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hda3870ce27e571c_0_32"/>
          <p:cNvGrpSpPr/>
          <p:nvPr/>
        </p:nvGrpSpPr>
        <p:grpSpPr>
          <a:xfrm>
            <a:off x="1441304" y="789003"/>
            <a:ext cx="8442000" cy="885655"/>
            <a:chOff x="0" y="-9525"/>
            <a:chExt cx="11256000" cy="1180873"/>
          </a:xfrm>
        </p:grpSpPr>
        <p:sp>
          <p:nvSpPr>
            <p:cNvPr id="86" name="Google Shape;86;hda3870ce27e571c_0_32"/>
            <p:cNvSpPr/>
            <p:nvPr/>
          </p:nvSpPr>
          <p:spPr>
            <a:xfrm>
              <a:off x="0" y="0"/>
              <a:ext cx="11255914" cy="1171348"/>
            </a:xfrm>
            <a:custGeom>
              <a:rect b="b" l="l" r="r" t="t"/>
              <a:pathLst>
                <a:path extrusionOk="0" h="1171348" w="11255914">
                  <a:moveTo>
                    <a:pt x="0" y="0"/>
                  </a:moveTo>
                  <a:lnTo>
                    <a:pt x="11255914" y="0"/>
                  </a:lnTo>
                  <a:lnTo>
                    <a:pt x="11255914" y="1171348"/>
                  </a:lnTo>
                  <a:lnTo>
                    <a:pt x="0" y="11713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37238" l="0" r="0" t="-137238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87" name="Google Shape;87;hda3870ce27e571c_0_32"/>
            <p:cNvSpPr txBox="1"/>
            <p:nvPr/>
          </p:nvSpPr>
          <p:spPr>
            <a:xfrm>
              <a:off x="0" y="-9525"/>
              <a:ext cx="11256000" cy="11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6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PICT ACM STUDENT CHAPTER (PASC)</a:t>
              </a:r>
              <a:r>
                <a:rPr b="1" i="0" lang="en-US" sz="1726" u="none" cap="none" strike="noStrike">
                  <a:solidFill>
                    <a:srgbClr val="0C94CC"/>
                  </a:solidFill>
                  <a:latin typeface="Poppins"/>
                  <a:ea typeface="Poppins"/>
                  <a:cs typeface="Poppins"/>
                  <a:sym typeface="Poppins"/>
                </a:rPr>
                <a:t>   |   PULZION’26 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Pune Institute of Computer Technology (PICT), Pune  </a:t>
              </a:r>
              <a:endParaRPr/>
            </a:p>
          </p:txBody>
        </p:sp>
      </p:grpSp>
      <p:sp>
        <p:nvSpPr>
          <p:cNvPr descr="input_file_2.png" id="88" name="Google Shape;88;hda3870ce27e571c_0_32"/>
          <p:cNvSpPr/>
          <p:nvPr/>
        </p:nvSpPr>
        <p:spPr>
          <a:xfrm>
            <a:off x="10264616" y="878510"/>
            <a:ext cx="713804" cy="713804"/>
          </a:xfrm>
          <a:custGeom>
            <a:rect b="b" l="l" r="r" t="t"/>
            <a:pathLst>
              <a:path extrusionOk="0" h="951738" w="951738">
                <a:moveTo>
                  <a:pt x="0" y="0"/>
                </a:moveTo>
                <a:lnTo>
                  <a:pt x="951738" y="0"/>
                </a:lnTo>
                <a:lnTo>
                  <a:pt x="951738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89" name="Google Shape;89;hda3870ce27e571c_0_32"/>
          <p:cNvSpPr/>
          <p:nvPr/>
        </p:nvSpPr>
        <p:spPr>
          <a:xfrm>
            <a:off x="11170587" y="878510"/>
            <a:ext cx="1189673" cy="713804"/>
          </a:xfrm>
          <a:custGeom>
            <a:rect b="b" l="l" r="r" t="t"/>
            <a:pathLst>
              <a:path extrusionOk="0" h="951738" w="1586230">
                <a:moveTo>
                  <a:pt x="0" y="0"/>
                </a:moveTo>
                <a:lnTo>
                  <a:pt x="1586230" y="0"/>
                </a:lnTo>
                <a:lnTo>
                  <a:pt x="1586230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90" name="Google Shape;90;hda3870ce27e571c_0_32"/>
          <p:cNvSpPr/>
          <p:nvPr/>
        </p:nvSpPr>
        <p:spPr>
          <a:xfrm>
            <a:off x="12552426" y="878510"/>
            <a:ext cx="2498217" cy="713804"/>
          </a:xfrm>
          <a:custGeom>
            <a:rect b="b" l="l" r="r" t="t"/>
            <a:pathLst>
              <a:path extrusionOk="0" h="951738" w="3330956">
                <a:moveTo>
                  <a:pt x="0" y="0"/>
                </a:moveTo>
                <a:lnTo>
                  <a:pt x="3330956" y="0"/>
                </a:lnTo>
                <a:lnTo>
                  <a:pt x="3330956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91" name="Google Shape;91;hda3870ce27e571c_0_32"/>
          <p:cNvSpPr/>
          <p:nvPr/>
        </p:nvSpPr>
        <p:spPr>
          <a:xfrm>
            <a:off x="15242867" y="878510"/>
            <a:ext cx="1640967" cy="713804"/>
          </a:xfrm>
          <a:custGeom>
            <a:rect b="b" l="l" r="r" t="t"/>
            <a:pathLst>
              <a:path extrusionOk="0" h="951738" w="2187956">
                <a:moveTo>
                  <a:pt x="0" y="0"/>
                </a:moveTo>
                <a:lnTo>
                  <a:pt x="2187956" y="0"/>
                </a:lnTo>
                <a:lnTo>
                  <a:pt x="2187956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9.png" id="92" name="Google Shape;92;hda3870ce27e571c_0_32"/>
          <p:cNvSpPr/>
          <p:nvPr/>
        </p:nvSpPr>
        <p:spPr>
          <a:xfrm>
            <a:off x="1262863" y="1894284"/>
            <a:ext cx="1304068" cy="978027"/>
          </a:xfrm>
          <a:custGeom>
            <a:rect b="b" l="l" r="r" t="t"/>
            <a:pathLst>
              <a:path extrusionOk="0" h="1304036" w="1738757">
                <a:moveTo>
                  <a:pt x="0" y="0"/>
                </a:moveTo>
                <a:lnTo>
                  <a:pt x="1738757" y="0"/>
                </a:lnTo>
                <a:lnTo>
                  <a:pt x="1738757" y="1304036"/>
                </a:lnTo>
                <a:lnTo>
                  <a:pt x="0" y="1304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93" name="Google Shape;93;hda3870ce27e571c_0_32"/>
          <p:cNvSpPr/>
          <p:nvPr/>
        </p:nvSpPr>
        <p:spPr>
          <a:xfrm>
            <a:off x="15813186" y="1866833"/>
            <a:ext cx="1070705" cy="1070705"/>
          </a:xfrm>
          <a:custGeom>
            <a:rect b="b" l="l" r="r" t="t"/>
            <a:pathLst>
              <a:path extrusionOk="0" h="1427607" w="1427607">
                <a:moveTo>
                  <a:pt x="0" y="0"/>
                </a:moveTo>
                <a:lnTo>
                  <a:pt x="1427607" y="0"/>
                </a:lnTo>
                <a:lnTo>
                  <a:pt x="1427607" y="1427607"/>
                </a:lnTo>
                <a:lnTo>
                  <a:pt x="0" y="1427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94" name="Google Shape;94;hda3870ce27e571c_0_32"/>
          <p:cNvGrpSpPr/>
          <p:nvPr/>
        </p:nvGrpSpPr>
        <p:grpSpPr>
          <a:xfrm>
            <a:off x="7972545" y="1887140"/>
            <a:ext cx="3300992" cy="512156"/>
            <a:chOff x="0" y="-9525"/>
            <a:chExt cx="4401323" cy="682874"/>
          </a:xfrm>
        </p:grpSpPr>
        <p:sp>
          <p:nvSpPr>
            <p:cNvPr id="95" name="Google Shape;95;hda3870ce27e571c_0_32"/>
            <p:cNvSpPr/>
            <p:nvPr/>
          </p:nvSpPr>
          <p:spPr>
            <a:xfrm>
              <a:off x="0" y="0"/>
              <a:ext cx="4401323" cy="673349"/>
            </a:xfrm>
            <a:custGeom>
              <a:rect b="b" l="l" r="r" t="t"/>
              <a:pathLst>
                <a:path extrusionOk="0" h="673349" w="4401323">
                  <a:moveTo>
                    <a:pt x="0" y="336676"/>
                  </a:moveTo>
                  <a:cubicBezTo>
                    <a:pt x="0" y="150707"/>
                    <a:pt x="78056" y="0"/>
                    <a:pt x="174376" y="0"/>
                  </a:cubicBezTo>
                  <a:lnTo>
                    <a:pt x="4226914" y="0"/>
                  </a:lnTo>
                  <a:cubicBezTo>
                    <a:pt x="4323234" y="0"/>
                    <a:pt x="4401323" y="150707"/>
                    <a:pt x="4401323" y="336676"/>
                  </a:cubicBezTo>
                  <a:cubicBezTo>
                    <a:pt x="4401323" y="522645"/>
                    <a:pt x="4323162" y="673349"/>
                    <a:pt x="4226914" y="673349"/>
                  </a:cubicBezTo>
                  <a:lnTo>
                    <a:pt x="174376" y="673349"/>
                  </a:lnTo>
                  <a:cubicBezTo>
                    <a:pt x="78056" y="673349"/>
                    <a:pt x="0" y="522645"/>
                    <a:pt x="0" y="336676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9050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hda3870ce27e571c_0_32"/>
            <p:cNvSpPr txBox="1"/>
            <p:nvPr/>
          </p:nvSpPr>
          <p:spPr>
            <a:xfrm>
              <a:off x="0" y="-9525"/>
              <a:ext cx="4401300" cy="6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PULZION’26  •  SPONSOR: MSW</a:t>
              </a:r>
              <a:endParaRPr/>
            </a:p>
          </p:txBody>
        </p:sp>
      </p:grpSp>
      <p:grpSp>
        <p:nvGrpSpPr>
          <p:cNvPr id="97" name="Google Shape;97;hda3870ce27e571c_0_32"/>
          <p:cNvGrpSpPr/>
          <p:nvPr/>
        </p:nvGrpSpPr>
        <p:grpSpPr>
          <a:xfrm>
            <a:off x="2470814" y="2352732"/>
            <a:ext cx="13360275" cy="1157400"/>
            <a:chOff x="0" y="-47625"/>
            <a:chExt cx="17813700" cy="1543200"/>
          </a:xfrm>
        </p:grpSpPr>
        <p:sp>
          <p:nvSpPr>
            <p:cNvPr id="98" name="Google Shape;98;hda3870ce27e571c_0_32"/>
            <p:cNvSpPr/>
            <p:nvPr/>
          </p:nvSpPr>
          <p:spPr>
            <a:xfrm>
              <a:off x="0" y="0"/>
              <a:ext cx="17813627" cy="1495499"/>
            </a:xfrm>
            <a:custGeom>
              <a:rect b="b" l="l" r="r" t="t"/>
              <a:pathLst>
                <a:path extrusionOk="0" h="1495499" w="17813627">
                  <a:moveTo>
                    <a:pt x="0" y="0"/>
                  </a:moveTo>
                  <a:lnTo>
                    <a:pt x="17813627" y="0"/>
                  </a:lnTo>
                  <a:lnTo>
                    <a:pt x="17813627" y="1495499"/>
                  </a:lnTo>
                  <a:lnTo>
                    <a:pt x="0" y="149549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6360" l="0" r="0" t="-197828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99" name="Google Shape;99;hda3870ce27e571c_0_32"/>
            <p:cNvSpPr txBox="1"/>
            <p:nvPr/>
          </p:nvSpPr>
          <p:spPr>
            <a:xfrm>
              <a:off x="0" y="-47625"/>
              <a:ext cx="178137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—  SachVerify</a:t>
              </a:r>
              <a:endParaRPr/>
            </a:p>
          </p:txBody>
        </p:sp>
      </p:grpSp>
      <p:sp>
        <p:nvSpPr>
          <p:cNvPr descr="input_file_10.png" id="100" name="Google Shape;100;hda3870ce27e571c_0_32"/>
          <p:cNvSpPr/>
          <p:nvPr/>
        </p:nvSpPr>
        <p:spPr>
          <a:xfrm>
            <a:off x="5307440" y="3233109"/>
            <a:ext cx="7686961" cy="1163098"/>
          </a:xfrm>
          <a:custGeom>
            <a:rect b="b" l="l" r="r" t="t"/>
            <a:pathLst>
              <a:path extrusionOk="0" h="1550797" w="10249281">
                <a:moveTo>
                  <a:pt x="0" y="0"/>
                </a:moveTo>
                <a:lnTo>
                  <a:pt x="10249281" y="0"/>
                </a:lnTo>
                <a:lnTo>
                  <a:pt x="10249281" y="1550797"/>
                </a:lnTo>
                <a:lnTo>
                  <a:pt x="0" y="15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01" name="Google Shape;101;hda3870ce27e571c_0_32"/>
          <p:cNvSpPr/>
          <p:nvPr/>
        </p:nvSpPr>
        <p:spPr>
          <a:xfrm>
            <a:off x="1289742" y="4405703"/>
            <a:ext cx="8593454" cy="4627055"/>
          </a:xfrm>
          <a:custGeom>
            <a:rect b="b" l="l" r="r" t="t"/>
            <a:pathLst>
              <a:path extrusionOk="0" h="6169406" w="11457939">
                <a:moveTo>
                  <a:pt x="0" y="246761"/>
                </a:moveTo>
                <a:cubicBezTo>
                  <a:pt x="0" y="110490"/>
                  <a:pt x="113940" y="0"/>
                  <a:pt x="254467" y="0"/>
                </a:cubicBezTo>
                <a:lnTo>
                  <a:pt x="11203472" y="0"/>
                </a:lnTo>
                <a:cubicBezTo>
                  <a:pt x="11343998" y="0"/>
                  <a:pt x="11457939" y="110490"/>
                  <a:pt x="11457939" y="246761"/>
                </a:cubicBezTo>
                <a:lnTo>
                  <a:pt x="11457939" y="5922645"/>
                </a:lnTo>
                <a:cubicBezTo>
                  <a:pt x="11457939" y="6058916"/>
                  <a:pt x="11343998" y="6169406"/>
                  <a:pt x="11203472" y="6169406"/>
                </a:cubicBezTo>
                <a:lnTo>
                  <a:pt x="254467" y="6169406"/>
                </a:lnTo>
                <a:cubicBezTo>
                  <a:pt x="113940" y="6169406"/>
                  <a:pt x="0" y="6058916"/>
                  <a:pt x="0" y="5922645"/>
                </a:cubicBezTo>
                <a:close/>
              </a:path>
            </a:pathLst>
          </a:custGeom>
          <a:solidFill>
            <a:srgbClr val="FFFFFF"/>
          </a:solidFill>
          <a:ln cap="sq" cmpd="sng" w="285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da3870ce27e571c_0_32"/>
          <p:cNvSpPr/>
          <p:nvPr/>
        </p:nvSpPr>
        <p:spPr>
          <a:xfrm>
            <a:off x="1509941" y="4584725"/>
            <a:ext cx="7892891" cy="549116"/>
          </a:xfrm>
          <a:custGeom>
            <a:rect b="b" l="l" r="r" t="t"/>
            <a:pathLst>
              <a:path extrusionOk="0" h="732155" w="10523855">
                <a:moveTo>
                  <a:pt x="0" y="109855"/>
                </a:moveTo>
                <a:cubicBezTo>
                  <a:pt x="0" y="49149"/>
                  <a:pt x="49149" y="0"/>
                  <a:pt x="109855" y="0"/>
                </a:cubicBezTo>
                <a:lnTo>
                  <a:pt x="10414000" y="0"/>
                </a:lnTo>
                <a:cubicBezTo>
                  <a:pt x="10474706" y="0"/>
                  <a:pt x="10523855" y="49149"/>
                  <a:pt x="10523855" y="109855"/>
                </a:cubicBezTo>
                <a:lnTo>
                  <a:pt x="10523855" y="622300"/>
                </a:lnTo>
                <a:cubicBezTo>
                  <a:pt x="10523855" y="683006"/>
                  <a:pt x="10474706" y="732155"/>
                  <a:pt x="10414000" y="732155"/>
                </a:cubicBezTo>
                <a:lnTo>
                  <a:pt x="109855" y="732155"/>
                </a:lnTo>
                <a:cubicBezTo>
                  <a:pt x="49149" y="732155"/>
                  <a:pt x="0" y="682879"/>
                  <a:pt x="0" y="622300"/>
                </a:cubicBezTo>
                <a:close/>
              </a:path>
            </a:pathLst>
          </a:custGeom>
          <a:solidFill>
            <a:srgbClr val="1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hda3870ce27e571c_0_32"/>
          <p:cNvGrpSpPr/>
          <p:nvPr/>
        </p:nvGrpSpPr>
        <p:grpSpPr>
          <a:xfrm>
            <a:off x="1658368" y="4563294"/>
            <a:ext cx="7856325" cy="692550"/>
            <a:chOff x="0" y="-28575"/>
            <a:chExt cx="10475100" cy="923400"/>
          </a:xfrm>
        </p:grpSpPr>
        <p:sp>
          <p:nvSpPr>
            <p:cNvPr id="104" name="Google Shape;104;hda3870ce27e571c_0_32"/>
            <p:cNvSpPr/>
            <p:nvPr/>
          </p:nvSpPr>
          <p:spPr>
            <a:xfrm>
              <a:off x="0" y="0"/>
              <a:ext cx="10474973" cy="894759"/>
            </a:xfrm>
            <a:custGeom>
              <a:rect b="b" l="l" r="r" t="t"/>
              <a:pathLst>
                <a:path extrusionOk="0" h="894759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894759"/>
                  </a:lnTo>
                  <a:lnTo>
                    <a:pt x="0" y="89475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120" l="0" r="3030" t="-180299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05" name="Google Shape;105;hda3870ce27e571c_0_32"/>
            <p:cNvSpPr txBox="1"/>
            <p:nvPr/>
          </p:nvSpPr>
          <p:spPr>
            <a:xfrm>
              <a:off x="0" y="-28575"/>
              <a:ext cx="10475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2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PROJECT &amp; PROBLEM STATEMENT DETAILS</a:t>
              </a:r>
              <a:endParaRPr/>
            </a:p>
          </p:txBody>
        </p:sp>
      </p:grpSp>
      <p:sp>
        <p:nvSpPr>
          <p:cNvPr id="106" name="Google Shape;106;hda3870ce27e571c_0_32"/>
          <p:cNvSpPr/>
          <p:nvPr/>
        </p:nvSpPr>
        <p:spPr>
          <a:xfrm>
            <a:off x="1537258" y="5263439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hda3870ce27e571c_0_32"/>
          <p:cNvGrpSpPr/>
          <p:nvPr/>
        </p:nvGrpSpPr>
        <p:grpSpPr>
          <a:xfrm>
            <a:off x="1734154" y="5277086"/>
            <a:ext cx="7856325" cy="611775"/>
            <a:chOff x="0" y="-28575"/>
            <a:chExt cx="10475100" cy="815700"/>
          </a:xfrm>
        </p:grpSpPr>
        <p:sp>
          <p:nvSpPr>
            <p:cNvPr id="108" name="Google Shape;108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09" name="Google Shape;109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Project / Solution Title: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SachVerify + Beacon citizen app</a:t>
              </a:r>
              <a:endParaRPr/>
            </a:p>
          </p:txBody>
        </p:sp>
      </p:grpSp>
      <p:sp>
        <p:nvSpPr>
          <p:cNvPr id="110" name="Google Shape;110;hda3870ce27e571c_0_32"/>
          <p:cNvSpPr/>
          <p:nvPr/>
        </p:nvSpPr>
        <p:spPr>
          <a:xfrm>
            <a:off x="1537258" y="5990949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hda3870ce27e571c_0_32"/>
          <p:cNvGrpSpPr/>
          <p:nvPr/>
        </p:nvGrpSpPr>
        <p:grpSpPr>
          <a:xfrm>
            <a:off x="1734154" y="6002013"/>
            <a:ext cx="7856325" cy="611775"/>
            <a:chOff x="0" y="-28575"/>
            <a:chExt cx="10475100" cy="815700"/>
          </a:xfrm>
        </p:grpSpPr>
        <p:sp>
          <p:nvSpPr>
            <p:cNvPr id="112" name="Google Shape;112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13" name="Google Shape;113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Problem Statement Title: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PS-2 · Disaster Information Verification Agent</a:t>
              </a:r>
              <a:endParaRPr/>
            </a:p>
          </p:txBody>
        </p:sp>
      </p:grpSp>
      <p:sp>
        <p:nvSpPr>
          <p:cNvPr id="114" name="Google Shape;114;hda3870ce27e571c_0_32"/>
          <p:cNvSpPr/>
          <p:nvPr/>
        </p:nvSpPr>
        <p:spPr>
          <a:xfrm>
            <a:off x="1537258" y="6718468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hda3870ce27e571c_0_32"/>
          <p:cNvGrpSpPr/>
          <p:nvPr/>
        </p:nvGrpSpPr>
        <p:grpSpPr>
          <a:xfrm>
            <a:off x="1734154" y="6732118"/>
            <a:ext cx="7856325" cy="611775"/>
            <a:chOff x="0" y="-28575"/>
            <a:chExt cx="10475100" cy="815700"/>
          </a:xfrm>
        </p:grpSpPr>
        <p:sp>
          <p:nvSpPr>
            <p:cNvPr id="116" name="Google Shape;116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17" name="Google Shape;117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GitHub Repository Link: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  <a:hlinkClick r:id="rId12"/>
                </a:rPr>
                <a:t>github.com/DevanshNarlawar06/Alebaple_hacknova (dev)</a:t>
              </a:r>
              <a:endParaRPr/>
            </a:p>
          </p:txBody>
        </p:sp>
      </p:grpSp>
      <p:sp>
        <p:nvSpPr>
          <p:cNvPr id="118" name="Google Shape;118;hda3870ce27e571c_0_32"/>
          <p:cNvSpPr/>
          <p:nvPr/>
        </p:nvSpPr>
        <p:spPr>
          <a:xfrm>
            <a:off x="1537258" y="7445988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hda3870ce27e571c_0_32"/>
          <p:cNvGrpSpPr/>
          <p:nvPr/>
        </p:nvGrpSpPr>
        <p:grpSpPr>
          <a:xfrm>
            <a:off x="1734154" y="7459635"/>
            <a:ext cx="7856325" cy="611775"/>
            <a:chOff x="0" y="-28575"/>
            <a:chExt cx="10475100" cy="815700"/>
          </a:xfrm>
        </p:grpSpPr>
        <p:sp>
          <p:nvSpPr>
            <p:cNvPr id="120" name="Google Shape;120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21" name="Google Shape;121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Live Prototype / Demo Link(Optional):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Live demo on our laptop</a:t>
              </a:r>
              <a:endParaRPr/>
            </a:p>
          </p:txBody>
        </p:sp>
      </p:grpSp>
      <p:sp>
        <p:nvSpPr>
          <p:cNvPr id="122" name="Google Shape;122;hda3870ce27e571c_0_32"/>
          <p:cNvSpPr/>
          <p:nvPr/>
        </p:nvSpPr>
        <p:spPr>
          <a:xfrm>
            <a:off x="1537258" y="8173498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hda3870ce27e571c_0_32"/>
          <p:cNvGrpSpPr/>
          <p:nvPr/>
        </p:nvGrpSpPr>
        <p:grpSpPr>
          <a:xfrm>
            <a:off x="1734154" y="8075471"/>
            <a:ext cx="7856325" cy="835033"/>
            <a:chOff x="0" y="-28575"/>
            <a:chExt cx="10475100" cy="1113377"/>
          </a:xfrm>
        </p:grpSpPr>
        <p:sp>
          <p:nvSpPr>
            <p:cNvPr id="124" name="Google Shape;124;hda3870ce27e571c_0_32"/>
            <p:cNvSpPr/>
            <p:nvPr/>
          </p:nvSpPr>
          <p:spPr>
            <a:xfrm>
              <a:off x="0" y="0"/>
              <a:ext cx="10474973" cy="1084802"/>
            </a:xfrm>
            <a:custGeom>
              <a:rect b="b" l="l" r="r" t="t"/>
              <a:pathLst>
                <a:path extrusionOk="0" h="1084802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1084802"/>
                  </a:lnTo>
                  <a:lnTo>
                    <a:pt x="0" y="108480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8734" l="0" r="3030" t="-146176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25" name="Google Shape;125;hda3870ce27e571c_0_32"/>
            <p:cNvSpPr txBox="1"/>
            <p:nvPr/>
          </p:nvSpPr>
          <p:spPr>
            <a:xfrm>
              <a:off x="0" y="-28575"/>
              <a:ext cx="10475100" cy="11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Figma / Design Link (Optional):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UI designs in repo: /design</a:t>
              </a:r>
              <a:endParaRPr/>
            </a:p>
          </p:txBody>
        </p:sp>
      </p:grpSp>
      <p:sp>
        <p:nvSpPr>
          <p:cNvPr id="126" name="Google Shape;126;hda3870ce27e571c_0_32"/>
          <p:cNvSpPr/>
          <p:nvPr/>
        </p:nvSpPr>
        <p:spPr>
          <a:xfrm>
            <a:off x="10232036" y="4440022"/>
            <a:ext cx="7390565" cy="4627055"/>
          </a:xfrm>
          <a:custGeom>
            <a:rect b="b" l="l" r="r" t="t"/>
            <a:pathLst>
              <a:path extrusionOk="0" h="6169406" w="9854086">
                <a:moveTo>
                  <a:pt x="0" y="246761"/>
                </a:moveTo>
                <a:cubicBezTo>
                  <a:pt x="0" y="110490"/>
                  <a:pt x="114384" y="0"/>
                  <a:pt x="255457" y="0"/>
                </a:cubicBezTo>
                <a:lnTo>
                  <a:pt x="9598630" y="0"/>
                </a:lnTo>
                <a:cubicBezTo>
                  <a:pt x="9739702" y="0"/>
                  <a:pt x="9854086" y="110490"/>
                  <a:pt x="9854086" y="246761"/>
                </a:cubicBezTo>
                <a:lnTo>
                  <a:pt x="9854086" y="5922645"/>
                </a:lnTo>
                <a:cubicBezTo>
                  <a:pt x="9854086" y="6058916"/>
                  <a:pt x="9739702" y="6169406"/>
                  <a:pt x="9598630" y="6169406"/>
                </a:cubicBezTo>
                <a:lnTo>
                  <a:pt x="255457" y="6169406"/>
                </a:lnTo>
                <a:cubicBezTo>
                  <a:pt x="114384" y="6169406"/>
                  <a:pt x="0" y="6058916"/>
                  <a:pt x="0" y="5922645"/>
                </a:cubicBezTo>
                <a:close/>
              </a:path>
            </a:pathLst>
          </a:custGeom>
          <a:solidFill>
            <a:srgbClr val="FFFFFF"/>
          </a:solidFill>
          <a:ln cap="sq" cmpd="sng" w="285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da3870ce27e571c_0_32"/>
          <p:cNvSpPr/>
          <p:nvPr/>
        </p:nvSpPr>
        <p:spPr>
          <a:xfrm>
            <a:off x="10460005" y="4619044"/>
            <a:ext cx="6934706" cy="549116"/>
          </a:xfrm>
          <a:custGeom>
            <a:rect b="b" l="l" r="r" t="t"/>
            <a:pathLst>
              <a:path extrusionOk="0" h="732155" w="9246275">
                <a:moveTo>
                  <a:pt x="0" y="109855"/>
                </a:moveTo>
                <a:cubicBezTo>
                  <a:pt x="0" y="49149"/>
                  <a:pt x="50881" y="0"/>
                  <a:pt x="113726" y="0"/>
                </a:cubicBezTo>
                <a:lnTo>
                  <a:pt x="9132549" y="0"/>
                </a:lnTo>
                <a:cubicBezTo>
                  <a:pt x="9195395" y="0"/>
                  <a:pt x="9246275" y="49149"/>
                  <a:pt x="9246275" y="109855"/>
                </a:cubicBezTo>
                <a:lnTo>
                  <a:pt x="9246275" y="622300"/>
                </a:lnTo>
                <a:cubicBezTo>
                  <a:pt x="9246275" y="683006"/>
                  <a:pt x="9195395" y="732155"/>
                  <a:pt x="9132549" y="732155"/>
                </a:cubicBezTo>
                <a:lnTo>
                  <a:pt x="113726" y="732155"/>
                </a:lnTo>
                <a:cubicBezTo>
                  <a:pt x="50881" y="732155"/>
                  <a:pt x="0" y="682879"/>
                  <a:pt x="0" y="622300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hda3870ce27e571c_0_32"/>
          <p:cNvGrpSpPr/>
          <p:nvPr/>
        </p:nvGrpSpPr>
        <p:grpSpPr>
          <a:xfrm>
            <a:off x="10602107" y="4597613"/>
            <a:ext cx="6650550" cy="692550"/>
            <a:chOff x="0" y="-28575"/>
            <a:chExt cx="8867400" cy="923400"/>
          </a:xfrm>
        </p:grpSpPr>
        <p:sp>
          <p:nvSpPr>
            <p:cNvPr id="129" name="Google Shape;129;hda3870ce27e571c_0_32"/>
            <p:cNvSpPr/>
            <p:nvPr/>
          </p:nvSpPr>
          <p:spPr>
            <a:xfrm>
              <a:off x="0" y="0"/>
              <a:ext cx="8867322" cy="894759"/>
            </a:xfrm>
            <a:custGeom>
              <a:rect b="b" l="l" r="r" t="t"/>
              <a:pathLst>
                <a:path extrusionOk="0" h="894759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894759"/>
                  </a:lnTo>
                  <a:lnTo>
                    <a:pt x="0" y="89475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7443" l="0" r="3400" t="-14562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30" name="Google Shape;130;hda3870ce27e571c_0_32"/>
            <p:cNvSpPr txBox="1"/>
            <p:nvPr/>
          </p:nvSpPr>
          <p:spPr>
            <a:xfrm>
              <a:off x="0" y="-28575"/>
              <a:ext cx="88674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2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TEAM INFORMATION</a:t>
              </a:r>
              <a:endParaRPr/>
            </a:p>
          </p:txBody>
        </p:sp>
      </p:grpSp>
      <p:sp>
        <p:nvSpPr>
          <p:cNvPr id="131" name="Google Shape;131;hda3870ce27e571c_0_32"/>
          <p:cNvSpPr/>
          <p:nvPr/>
        </p:nvSpPr>
        <p:spPr>
          <a:xfrm>
            <a:off x="10452599" y="5298234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hda3870ce27e571c_0_32"/>
          <p:cNvGrpSpPr/>
          <p:nvPr/>
        </p:nvGrpSpPr>
        <p:grpSpPr>
          <a:xfrm>
            <a:off x="10602107" y="5311407"/>
            <a:ext cx="6650550" cy="611775"/>
            <a:chOff x="0" y="-28575"/>
            <a:chExt cx="8867400" cy="815700"/>
          </a:xfrm>
        </p:grpSpPr>
        <p:sp>
          <p:nvSpPr>
            <p:cNvPr id="133" name="Google Shape;133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34" name="Google Shape;134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Name: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Alebaple</a:t>
              </a:r>
              <a:endParaRPr/>
            </a:p>
          </p:txBody>
        </p:sp>
      </p:grpSp>
      <p:sp>
        <p:nvSpPr>
          <p:cNvPr id="135" name="Google Shape;135;hda3870ce27e571c_0_32"/>
          <p:cNvSpPr/>
          <p:nvPr/>
        </p:nvSpPr>
        <p:spPr>
          <a:xfrm>
            <a:off x="10452599" y="6025744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hda3870ce27e571c_0_32"/>
          <p:cNvGrpSpPr/>
          <p:nvPr/>
        </p:nvGrpSpPr>
        <p:grpSpPr>
          <a:xfrm>
            <a:off x="10602107" y="6038917"/>
            <a:ext cx="6650550" cy="611775"/>
            <a:chOff x="0" y="-28575"/>
            <a:chExt cx="8867400" cy="815700"/>
          </a:xfrm>
        </p:grpSpPr>
        <p:sp>
          <p:nvSpPr>
            <p:cNvPr id="137" name="Google Shape;137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38" name="Google Shape;138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Leader: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Devansh Narlawar</a:t>
              </a:r>
              <a:endParaRPr/>
            </a:p>
          </p:txBody>
        </p:sp>
      </p:grpSp>
      <p:sp>
        <p:nvSpPr>
          <p:cNvPr id="139" name="Google Shape;139;hda3870ce27e571c_0_32"/>
          <p:cNvSpPr/>
          <p:nvPr/>
        </p:nvSpPr>
        <p:spPr>
          <a:xfrm>
            <a:off x="10452599" y="6753263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hda3870ce27e571c_0_32"/>
          <p:cNvGrpSpPr/>
          <p:nvPr/>
        </p:nvGrpSpPr>
        <p:grpSpPr>
          <a:xfrm>
            <a:off x="10602107" y="6766436"/>
            <a:ext cx="6650550" cy="611775"/>
            <a:chOff x="0" y="-28575"/>
            <a:chExt cx="8867400" cy="815700"/>
          </a:xfrm>
        </p:grpSpPr>
        <p:sp>
          <p:nvSpPr>
            <p:cNvPr id="141" name="Google Shape;141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42" name="Google Shape;142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Member 2: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Akshat Patil</a:t>
              </a:r>
              <a:endParaRPr/>
            </a:p>
          </p:txBody>
        </p:sp>
      </p:grpSp>
      <p:sp>
        <p:nvSpPr>
          <p:cNvPr id="143" name="Google Shape;143;hda3870ce27e571c_0_32"/>
          <p:cNvSpPr/>
          <p:nvPr/>
        </p:nvSpPr>
        <p:spPr>
          <a:xfrm>
            <a:off x="10452599" y="7480783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hda3870ce27e571c_0_32"/>
          <p:cNvGrpSpPr/>
          <p:nvPr/>
        </p:nvGrpSpPr>
        <p:grpSpPr>
          <a:xfrm>
            <a:off x="10602107" y="7493956"/>
            <a:ext cx="6650550" cy="611775"/>
            <a:chOff x="0" y="-28575"/>
            <a:chExt cx="8867400" cy="815700"/>
          </a:xfrm>
        </p:grpSpPr>
        <p:sp>
          <p:nvSpPr>
            <p:cNvPr id="145" name="Google Shape;145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146" name="Google Shape;146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Member 3: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Vedant Karne</a:t>
              </a:r>
              <a:endParaRPr/>
            </a:p>
          </p:txBody>
        </p:sp>
      </p:grpSp>
      <p:sp>
        <p:nvSpPr>
          <p:cNvPr id="151" name="Google Shape;151;hda3870ce27e571c_0_32"/>
          <p:cNvSpPr/>
          <p:nvPr/>
        </p:nvSpPr>
        <p:spPr>
          <a:xfrm>
            <a:off x="3424057" y="9216733"/>
            <a:ext cx="11453717" cy="481965"/>
          </a:xfrm>
          <a:custGeom>
            <a:rect b="b" l="l" r="r" t="t"/>
            <a:pathLst>
              <a:path extrusionOk="0" h="642620" w="15271623">
                <a:moveTo>
                  <a:pt x="0" y="257048"/>
                </a:moveTo>
                <a:cubicBezTo>
                  <a:pt x="0" y="115062"/>
                  <a:pt x="115062" y="0"/>
                  <a:pt x="257048" y="0"/>
                </a:cubicBezTo>
                <a:lnTo>
                  <a:pt x="15014575" y="0"/>
                </a:lnTo>
                <a:cubicBezTo>
                  <a:pt x="15156562" y="0"/>
                  <a:pt x="15271623" y="115062"/>
                  <a:pt x="15271623" y="257048"/>
                </a:cubicBezTo>
                <a:lnTo>
                  <a:pt x="15271623" y="385572"/>
                </a:lnTo>
                <a:cubicBezTo>
                  <a:pt x="15271623" y="527558"/>
                  <a:pt x="15156562" y="642620"/>
                  <a:pt x="15014575" y="642620"/>
                </a:cubicBezTo>
                <a:lnTo>
                  <a:pt x="257048" y="642620"/>
                </a:lnTo>
                <a:cubicBezTo>
                  <a:pt x="115062" y="642620"/>
                  <a:pt x="0" y="527558"/>
                  <a:pt x="0" y="385572"/>
                </a:cubicBezTo>
                <a:close/>
              </a:path>
            </a:pathLst>
          </a:custGeom>
          <a:solidFill>
            <a:srgbClr val="FFFFFF"/>
          </a:solidFill>
          <a:ln cap="sq" cmpd="sng" w="15250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hda3870ce27e571c_0_32"/>
          <p:cNvGrpSpPr/>
          <p:nvPr/>
        </p:nvGrpSpPr>
        <p:grpSpPr>
          <a:xfrm>
            <a:off x="3568951" y="9210075"/>
            <a:ext cx="11164050" cy="481050"/>
            <a:chOff x="0" y="-19050"/>
            <a:chExt cx="14885400" cy="641400"/>
          </a:xfrm>
        </p:grpSpPr>
        <p:sp>
          <p:nvSpPr>
            <p:cNvPr id="153" name="Google Shape;153;hda3870ce27e571c_0_32"/>
            <p:cNvSpPr/>
            <p:nvPr/>
          </p:nvSpPr>
          <p:spPr>
            <a:xfrm>
              <a:off x="0" y="0"/>
              <a:ext cx="14885259" cy="622282"/>
            </a:xfrm>
            <a:custGeom>
              <a:rect b="b" l="l" r="r" t="t"/>
              <a:pathLst>
                <a:path extrusionOk="0" h="622282" w="14885259">
                  <a:moveTo>
                    <a:pt x="0" y="0"/>
                  </a:moveTo>
                  <a:lnTo>
                    <a:pt x="14885259" y="0"/>
                  </a:lnTo>
                  <a:lnTo>
                    <a:pt x="14885259" y="622282"/>
                  </a:lnTo>
                  <a:lnTo>
                    <a:pt x="0" y="62228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16070" l="0" r="0" t="-416070"/>
              </a:stretch>
            </a:blipFill>
            <a:ln>
              <a:noFill/>
            </a:ln>
          </p:spPr>
        </p:sp>
        <p:sp>
          <p:nvSpPr>
            <p:cNvPr id="154" name="Google Shape;154;hda3870ce27e571c_0_32"/>
            <p:cNvSpPr txBox="1"/>
            <p:nvPr/>
          </p:nvSpPr>
          <p:spPr>
            <a:xfrm>
              <a:off x="0" y="-19050"/>
              <a:ext cx="148854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•  PULZION’26  •  PICT ACM Student Chapter (PASC)  </a:t>
              </a:r>
              <a:endParaRPr/>
            </a:p>
          </p:txBody>
        </p:sp>
      </p:grpSp>
      <p:grpSp>
        <p:nvGrpSpPr>
          <p:cNvPr id="155" name="Google Shape;155;hda3870ce27e571c_0_32"/>
          <p:cNvGrpSpPr/>
          <p:nvPr/>
        </p:nvGrpSpPr>
        <p:grpSpPr>
          <a:xfrm>
            <a:off x="16235686" y="9642177"/>
            <a:ext cx="1387030" cy="492988"/>
            <a:chOff x="0" y="-19050"/>
            <a:chExt cx="1849374" cy="657317"/>
          </a:xfrm>
        </p:grpSpPr>
        <p:sp>
          <p:nvSpPr>
            <p:cNvPr id="156" name="Google Shape;156;hda3870ce27e571c_0_32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hda3870ce27e571c_0_32"/>
            <p:cNvSpPr txBox="1"/>
            <p:nvPr/>
          </p:nvSpPr>
          <p:spPr>
            <a:xfrm>
              <a:off x="0" y="-19050"/>
              <a:ext cx="1849200" cy="6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1 / 10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162" name="Google Shape;162;p2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3" name="Google Shape;163;p2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164" name="Google Shape;164;p2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165" name="Google Shape;165;p2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166" name="Google Shape;166;p2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167" name="Google Shape;167;p2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168" name="Google Shape;168;p2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9" name="Google Shape;169;p2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9.png" id="170" name="Google Shape;170;p2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71" name="Google Shape;171;p2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173" name="Google Shape;173;p2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174" name="Google Shape;174;p2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Problem Statement &amp; Existing Challenges</a:t>
              </a:r>
              <a:endParaRPr/>
            </a:p>
          </p:txBody>
        </p:sp>
      </p:grpSp>
      <p:sp>
        <p:nvSpPr>
          <p:cNvPr id="175" name="Google Shape;175;p2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  <p:txBody>
          <a:bodyPr/>
          <a:p/>
        </p:txBody>
      </p:sp>
      <p:sp>
        <p:nvSpPr>
          <p:cNvPr descr="input_file_9.png" id="176" name="Google Shape;176;p2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177" name="Google Shape;177;p2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178" name="Google Shape;178;p2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179" name="Google Shape;179;p2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180" name="Google Shape;180;p2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181" name="Google Shape;181;p2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182" name="Google Shape;182;p2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2 / 10</a:t>
              </a:r>
              <a:endParaRPr/>
            </a:p>
          </p:txBody>
        </p:sp>
      </p:grpSp>
      <p:sp>
        <p:nvSpPr>
          <p:cNvPr id="184" name="TextBox 183"/>
          <p:cNvSpPr txBox="1"/>
          <p:nvPr/>
        </p:nvSpPr>
        <p:spPr>
          <a:xfrm>
            <a:off x="685800" y="2103120"/>
            <a:ext cx="13624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4B5563"/>
                </a:solidFill>
                <a:latin typeface="Calibri"/>
              </a:rPr>
              <a:t>During floods, cyclones and earthquakes, claims spread faster than anyone can check them. </a:t>
            </a:r>
            <a:r>
              <a:rPr sz="2200" b="1">
                <a:solidFill>
                  <a:srgbClr val="0B1B2E"/>
                </a:solidFill>
                <a:latin typeface="Calibri"/>
              </a:rPr>
              <a:t>Responders can't tell which posts to trust.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85800" y="3154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766E"/>
                </a:solidFill>
                <a:latin typeface="Poppins"/>
              </a:rPr>
              <a:t>WHAT GOES WRONG (TYPICAL CASES)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685800" y="3611880"/>
            <a:ext cx="9829800" cy="1033271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ounded Rectangle 186"/>
          <p:cNvSpPr/>
          <p:nvPr/>
        </p:nvSpPr>
        <p:spPr>
          <a:xfrm>
            <a:off x="868680" y="3767328"/>
            <a:ext cx="713232" cy="713232"/>
          </a:xfrm>
          <a:prstGeom prst="roundRect">
            <a:avLst>
              <a:gd name="adj" fmla="val 2051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8" name="Picture 187" descr="film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326" y="3909974"/>
            <a:ext cx="427939" cy="427939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1783080" y="3703320"/>
            <a:ext cx="8595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B2E"/>
                </a:solidFill>
                <a:latin typeface="Calibri"/>
              </a:rPr>
              <a:t>Recycled media</a:t>
            </a:r>
          </a:p>
          <a:p>
            <a:pPr algn="l">
              <a:spcAft>
                <a:spcPts val="1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An old flood video (e.g. Kolhapur 2019) is forwarded years later as “today”.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85800" y="4754880"/>
            <a:ext cx="9829800" cy="1033271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ounded Rectangle 190"/>
          <p:cNvSpPr/>
          <p:nvPr/>
        </p:nvSpPr>
        <p:spPr>
          <a:xfrm>
            <a:off x="868680" y="4910328"/>
            <a:ext cx="713232" cy="713232"/>
          </a:xfrm>
          <a:prstGeom prst="roundRect">
            <a:avLst>
              <a:gd name="adj" fmla="val 2051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2" name="Picture 191" descr="mappin_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326" y="5052974"/>
            <a:ext cx="427939" cy="427939"/>
          </a:xfrm>
          <a:prstGeom prst="rect">
            <a:avLst/>
          </a:prstGeom>
        </p:spPr>
      </p:pic>
      <p:sp>
        <p:nvSpPr>
          <p:cNvPr id="193" name="TextBox 192"/>
          <p:cNvSpPr txBox="1"/>
          <p:nvPr/>
        </p:nvSpPr>
        <p:spPr>
          <a:xfrm>
            <a:off x="1783080" y="4846320"/>
            <a:ext cx="8595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B2E"/>
                </a:solidFill>
                <a:latin typeface="Calibri"/>
              </a:rPr>
              <a:t>Wrong place</a:t>
            </a:r>
          </a:p>
          <a:p>
            <a:pPr algn="l">
              <a:spcAft>
                <a:spcPts val="1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A real alert for one district is attributed to another city.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85800" y="5897880"/>
            <a:ext cx="9829800" cy="1033271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ounded Rectangle 194"/>
          <p:cNvSpPr/>
          <p:nvPr/>
        </p:nvSpPr>
        <p:spPr>
          <a:xfrm>
            <a:off x="868680" y="6053328"/>
            <a:ext cx="713232" cy="713232"/>
          </a:xfrm>
          <a:prstGeom prst="roundRect">
            <a:avLst>
              <a:gd name="adj" fmla="val 2051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6" name="Picture 195" descr="hash_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326" y="6195974"/>
            <a:ext cx="427939" cy="427939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1783080" y="5989320"/>
            <a:ext cx="8595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B2E"/>
                </a:solidFill>
                <a:latin typeface="Calibri"/>
              </a:rPr>
              <a:t>Conflicting numbers</a:t>
            </a:r>
          </a:p>
          <a:p>
            <a:pPr algn="l">
              <a:spcAft>
                <a:spcPts val="1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“300 mm rain”, “dam burst”, “10,000 evacuated” disagree with official figures.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85800" y="7040880"/>
            <a:ext cx="9829800" cy="1033271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ounded Rectangle 198"/>
          <p:cNvSpPr/>
          <p:nvPr/>
        </p:nvSpPr>
        <p:spPr>
          <a:xfrm>
            <a:off x="868680" y="7196328"/>
            <a:ext cx="713232" cy="713232"/>
          </a:xfrm>
          <a:prstGeom prst="roundRect">
            <a:avLst>
              <a:gd name="adj" fmla="val 2051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0" name="Picture 199" descr="clock_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1326" y="7338974"/>
            <a:ext cx="427939" cy="427939"/>
          </a:xfrm>
          <a:prstGeom prst="rect">
            <a:avLst/>
          </a:prstGeom>
        </p:spPr>
      </p:pic>
      <p:sp>
        <p:nvSpPr>
          <p:cNvPr id="201" name="TextBox 200"/>
          <p:cNvSpPr txBox="1"/>
          <p:nvPr/>
        </p:nvSpPr>
        <p:spPr>
          <a:xfrm>
            <a:off x="1783080" y="7132320"/>
            <a:ext cx="8595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B2E"/>
                </a:solidFill>
                <a:latin typeface="Calibri"/>
              </a:rPr>
              <a:t>Stale truth</a:t>
            </a:r>
          </a:p>
          <a:p>
            <a:pPr algn="l">
              <a:spcAft>
                <a:spcPts val="1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A warning that expired hours ago is still being shared.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685800" y="8183879"/>
            <a:ext cx="9829800" cy="1033271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ounded Rectangle 202"/>
          <p:cNvSpPr/>
          <p:nvPr/>
        </p:nvSpPr>
        <p:spPr>
          <a:xfrm>
            <a:off x="868680" y="8339327"/>
            <a:ext cx="713232" cy="713232"/>
          </a:xfrm>
          <a:prstGeom prst="roundRect">
            <a:avLst>
              <a:gd name="adj" fmla="val 2051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4" name="Picture 203" descr="lang_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26" y="8481974"/>
            <a:ext cx="427939" cy="427939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1783080" y="8275319"/>
            <a:ext cx="8595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B2E"/>
                </a:solidFill>
                <a:latin typeface="Calibri"/>
              </a:rPr>
              <a:t>Language gap</a:t>
            </a:r>
          </a:p>
          <a:p>
            <a:pPr algn="l">
              <a:spcAft>
                <a:spcPts val="1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Rumours spread in Hindi and Marathi; officials cross-check in English.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0972800" y="3154680"/>
            <a:ext cx="6629400" cy="3246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TextBox 206"/>
          <p:cNvSpPr txBox="1"/>
          <p:nvPr/>
        </p:nvSpPr>
        <p:spPr>
          <a:xfrm>
            <a:off x="11247120" y="3291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F766E"/>
                </a:solidFill>
                <a:latin typeface="Poppins"/>
              </a:rPr>
              <a:t>WHO IS AFFECTED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1247120" y="3749039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9" name="Picture 208" descr="siren_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67820" y="3869740"/>
            <a:ext cx="362102" cy="362102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12024360" y="3703320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1B2E"/>
                </a:solidFill>
                <a:latin typeface="Calibri"/>
              </a:rPr>
              <a:t>Responders &amp; SDMA / DDMA control rooms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Triage hundreds of reports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1247120" y="4617720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2" name="Picture 211" descr="hosp_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67820" y="4738420"/>
            <a:ext cx="362102" cy="362102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12024360" y="4572000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1B2E"/>
                </a:solidFill>
                <a:latin typeface="Calibri"/>
              </a:rPr>
              <a:t>Hospitals &amp; NGOs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Decide where to send resources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1247120" y="5486400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5" name="Picture 214" descr="users_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67820" y="5607100"/>
            <a:ext cx="362102" cy="362102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2024360" y="5440680"/>
            <a:ext cx="54406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B1B2E"/>
                </a:solidFill>
                <a:latin typeface="Calibri"/>
              </a:rPr>
              <a:t>Citizens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Panic at fakes, or ignore real warnings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0972800" y="6583680"/>
            <a:ext cx="6629400" cy="2788920"/>
          </a:xfrm>
          <a:prstGeom prst="roundRect">
            <a:avLst>
              <a:gd name="adj" fmla="val 4918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TextBox 217"/>
          <p:cNvSpPr txBox="1"/>
          <p:nvPr/>
        </p:nvSpPr>
        <p:spPr>
          <a:xfrm>
            <a:off x="11247120" y="6720840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Why current tools fall short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1247120" y="7223760"/>
            <a:ext cx="617220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600"/>
              </a:spcAft>
              <a:buClr>
                <a:srgbClr val="5EC8BC"/>
              </a:buClr>
              <a:buFont typeface="Arial"/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Official alerts (NDMA SACHET) are authoritative but don't answer rumours.</a:t>
            </a:r>
          </a:p>
          <a:p>
            <a:pPr algn="l" marL="256032" indent="-256032">
              <a:spcAft>
                <a:spcPts val="600"/>
              </a:spcAft>
              <a:buClr>
                <a:srgbClr val="5EC8BC"/>
              </a:buClr>
              <a:buFont typeface="Arial"/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Fact-checking is manual: hours to days.</a:t>
            </a:r>
          </a:p>
          <a:p>
            <a:pPr algn="l" marL="256032" indent="-256032">
              <a:spcAft>
                <a:spcPts val="600"/>
              </a:spcAft>
              <a:buClr>
                <a:srgbClr val="5EC8BC"/>
              </a:buClr>
              <a:buFont typeface="Arial"/>
              <a:buChar char="•"/>
            </a:pPr>
            <a:r>
              <a:rPr sz="1800" b="0">
                <a:solidFill>
                  <a:srgbClr val="FFFFFF"/>
                </a:solidFill>
                <a:latin typeface="Calibri"/>
              </a:rPr>
              <a:t>Platforms don't check a claim's place and time against official feeds.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1247120" y="900684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9D3DE"/>
                </a:solidFill>
                <a:latin typeface="Calibri"/>
              </a:rPr>
              <a:t>Our assessment, from PS-2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189" name="Google Shape;189;p3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90" name="Google Shape;190;p3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191" name="Google Shape;191;p3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192" name="Google Shape;192;p3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193" name="Google Shape;193;p3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194" name="Google Shape;194;p3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95" name="Google Shape;195;p3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8.png" id="196" name="Google Shape;196;p3"/>
          <p:cNvSpPr/>
          <p:nvPr/>
        </p:nvSpPr>
        <p:spPr>
          <a:xfrm>
            <a:off x="16952500" y="988324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97" name="Google Shape;197;p3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3"/>
          <p:cNvGrpSpPr/>
          <p:nvPr/>
        </p:nvGrpSpPr>
        <p:grpSpPr>
          <a:xfrm>
            <a:off x="981456" y="835350"/>
            <a:ext cx="15785735" cy="1073522"/>
            <a:chOff x="0" y="-38100"/>
            <a:chExt cx="21047646" cy="1431362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00" name="Google Shape;200;p3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Proposed Solution</a:t>
              </a:r>
              <a:endParaRPr/>
            </a:p>
          </p:txBody>
        </p:sp>
      </p:grpSp>
      <p:sp>
        <p:nvSpPr>
          <p:cNvPr id="201" name="Google Shape;201;p3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  <p:txBody>
          <a:bodyPr/>
          <a:p/>
        </p:txBody>
      </p:sp>
      <p:sp>
        <p:nvSpPr>
          <p:cNvPr descr="input_file_9.png" id="202" name="Google Shape;202;p3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4" l="0" r="-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203" name="Google Shape;203;p3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8" l="0" r="8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204" name="Google Shape;204;p3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05" name="Google Shape;205;p3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06" name="Google Shape;206;p3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07" name="Google Shape;207;p3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08" name="Google Shape;208;p3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3 / 10</a:t>
              </a:r>
              <a:endParaRPr/>
            </a:p>
          </p:txBody>
        </p:sp>
      </p:grpSp>
      <p:sp>
        <p:nvSpPr>
          <p:cNvPr id="210" name="Google Shape;210;p3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685800" y="2103120"/>
            <a:ext cx="13624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F766E"/>
                </a:solidFill>
                <a:latin typeface="Calibri"/>
              </a:rPr>
              <a:t>SachVerify</a:t>
            </a:r>
            <a:r>
              <a:rPr sz="2200" b="0">
                <a:solidFill>
                  <a:srgbClr val="4B5563"/>
                </a:solidFill>
                <a:latin typeface="Calibri"/>
              </a:rPr>
              <a:t> checks each disaster claim against official alerts, sensors, news, place and time, and gives one of four verdicts with the evidence behind it.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85800" y="3200400"/>
            <a:ext cx="402336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960120" y="3538728"/>
            <a:ext cx="219456" cy="21945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TextBox 213"/>
          <p:cNvSpPr txBox="1"/>
          <p:nvPr/>
        </p:nvSpPr>
        <p:spPr>
          <a:xfrm>
            <a:off x="1325880" y="32918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B2E"/>
                </a:solidFill>
                <a:latin typeface="Poppins"/>
              </a:rPr>
              <a:t>Verified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Trusted sources confirm it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4983480" y="3200400"/>
            <a:ext cx="402336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5257800" y="3538728"/>
            <a:ext cx="219456" cy="21945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TextBox 216"/>
          <p:cNvSpPr txBox="1"/>
          <p:nvPr/>
        </p:nvSpPr>
        <p:spPr>
          <a:xfrm>
            <a:off x="5623560" y="32918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B2E"/>
                </a:solidFill>
                <a:latin typeface="Poppins"/>
              </a:rPr>
              <a:t>Conflicting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Positive evidence contradicts it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9281160" y="3200400"/>
            <a:ext cx="402336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9555480" y="3538728"/>
            <a:ext cx="219456" cy="219456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TextBox 219"/>
          <p:cNvSpPr txBox="1"/>
          <p:nvPr/>
        </p:nvSpPr>
        <p:spPr>
          <a:xfrm>
            <a:off x="9921240" y="32918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B2E"/>
                </a:solidFill>
                <a:latin typeface="Poppins"/>
              </a:rPr>
              <a:t>Outdated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Was true, no longer current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3578840" y="3200400"/>
            <a:ext cx="402336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13853160" y="3538728"/>
            <a:ext cx="219456" cy="21945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TextBox 222"/>
          <p:cNvSpPr txBox="1"/>
          <p:nvPr/>
        </p:nvSpPr>
        <p:spPr>
          <a:xfrm>
            <a:off x="14218920" y="32918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1B2E"/>
                </a:solidFill>
                <a:latin typeface="Poppins"/>
              </a:rPr>
              <a:t>Unverified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Not enough evidence either way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85800" y="4526280"/>
            <a:ext cx="16916400" cy="502920"/>
          </a:xfrm>
          <a:prstGeom prst="roundRect">
            <a:avLst>
              <a:gd name="adj" fmla="val 18181"/>
            </a:avLst>
          </a:prstGeom>
          <a:solidFill>
            <a:srgbClr val="E8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TextBox 224"/>
          <p:cNvSpPr txBox="1"/>
          <p:nvPr/>
        </p:nvSpPr>
        <p:spPr>
          <a:xfrm>
            <a:off x="960120" y="4526280"/>
            <a:ext cx="164592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Absence of evidence is never treated as contradiction: </a:t>
            </a:r>
            <a:r>
              <a:rPr sz="1800" b="0">
                <a:solidFill>
                  <a:srgbClr val="1F2937"/>
                </a:solidFill>
                <a:latin typeface="Calibri"/>
              </a:rPr>
              <a:t>no source found means Unverified, never “false”.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685800" y="5257800"/>
            <a:ext cx="55321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ounded Rectangle 226"/>
          <p:cNvSpPr/>
          <p:nvPr/>
        </p:nvSpPr>
        <p:spPr>
          <a:xfrm>
            <a:off x="914400" y="545896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8" name="Picture 227" descr="monitor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073" y="5590641"/>
            <a:ext cx="395020" cy="395020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1709928" y="544068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B1B2E"/>
                </a:solidFill>
                <a:latin typeface="Poppins"/>
              </a:rPr>
              <a:t>Responder Console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709928" y="58978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PS-2 core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960120" y="6400800"/>
            <a:ext cx="507492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Live story feed with status + confidence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Evidence For / Against: source, time, distance, NLI score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Map: official alert areas + claim pins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Current vs Historical toggle; check-a-post box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Replay demo streams posts live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6446520" y="525780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ounded Rectangle 232"/>
          <p:cNvSpPr/>
          <p:nvPr/>
        </p:nvSpPr>
        <p:spPr>
          <a:xfrm>
            <a:off x="6675120" y="5458968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4" name="Picture 233" descr="phon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6793" y="5590641"/>
            <a:ext cx="395020" cy="395020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7470648" y="544068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B1B2E"/>
                </a:solidFill>
                <a:latin typeface="Poppins"/>
              </a:rPr>
              <a:t>Beacon citizen app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7470648" y="589788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  <a:latin typeface="Poppins"/>
              </a:rPr>
              <a:t>Beyond the brief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20840" y="6400800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Threat level for your location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RED only on an official alert or a verified claim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“Not true” rumour cards nearby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Opt-in alarm sound; check a message</a:t>
            </a:r>
          </a:p>
          <a:p>
            <a:pPr algn="l" marL="256032" indent="-256032">
              <a:spcAft>
                <a:spcPts val="600"/>
              </a:spcAft>
              <a:buClr>
                <a:srgbClr val="0D9488"/>
              </a:buClr>
              <a:buFont typeface="Arial"/>
              <a:buChar char="•"/>
            </a:pPr>
            <a:r>
              <a:rPr sz="1900" b="0">
                <a:solidFill>
                  <a:srgbClr val="1F2937"/>
                </a:solidFill>
                <a:latin typeface="Calibri"/>
              </a:rPr>
              <a:t>“Why this alert?” shows the evidence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1704320" y="5257800"/>
            <a:ext cx="5897880" cy="4114800"/>
          </a:xfrm>
          <a:prstGeom prst="roundRect">
            <a:avLst>
              <a:gd name="adj" fmla="val 3333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TextBox 238"/>
          <p:cNvSpPr txBox="1"/>
          <p:nvPr/>
        </p:nvSpPr>
        <p:spPr>
          <a:xfrm>
            <a:off x="11978640" y="54132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What makes it different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1978640" y="5989320"/>
            <a:ext cx="544068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1400"/>
              </a:spcAft>
              <a:buClr>
                <a:srgbClr val="5EC8BC"/>
              </a:buClr>
              <a:buFont typeface="Arial"/>
              <a:buChar char="•"/>
            </a:pPr>
            <a:r>
              <a:rPr sz="1900" b="0">
                <a:solidFill>
                  <a:srgbClr val="FFFFFF"/>
                </a:solidFill>
                <a:latin typeface="Calibri"/>
              </a:rPr>
              <a:t>Claims split into atomic facts; opinions excluded</a:t>
            </a:r>
          </a:p>
          <a:p>
            <a:pPr algn="l" marL="256032" indent="-256032">
              <a:spcAft>
                <a:spcPts val="1400"/>
              </a:spcAft>
              <a:buClr>
                <a:srgbClr val="5EC8BC"/>
              </a:buClr>
              <a:buFont typeface="Arial"/>
              <a:buChar char="•"/>
            </a:pPr>
            <a:r>
              <a:rPr sz="1900" b="0">
                <a:solidFill>
                  <a:srgbClr val="FFFFFF"/>
                </a:solidFill>
                <a:latin typeface="Calibri"/>
              </a:rPr>
              <a:t>Each claim tied to one real event</a:t>
            </a:r>
          </a:p>
          <a:p>
            <a:pPr algn="l" marL="256032" indent="-256032">
              <a:spcAft>
                <a:spcPts val="1400"/>
              </a:spcAft>
              <a:buClr>
                <a:srgbClr val="5EC8BC"/>
              </a:buClr>
              <a:buFont typeface="Arial"/>
              <a:buChar char="•"/>
            </a:pPr>
            <a:r>
              <a:rPr sz="1900" b="0">
                <a:solidFill>
                  <a:srgbClr val="FFFFFF"/>
                </a:solidFill>
                <a:latin typeface="Calibri"/>
              </a:rPr>
              <a:t>HISTORICAL vs CURRENT verdicts from validity windows</a:t>
            </a:r>
          </a:p>
          <a:p>
            <a:pPr algn="l" marL="256032" indent="-256032">
              <a:spcAft>
                <a:spcPts val="1400"/>
              </a:spcAft>
              <a:buClr>
                <a:srgbClr val="5EC8BC"/>
              </a:buClr>
              <a:buFont typeface="Arial"/>
              <a:buChar char="•"/>
            </a:pPr>
            <a:r>
              <a:rPr sz="1900" b="0">
                <a:solidFill>
                  <a:srgbClr val="FFFFFF"/>
                </a:solidFill>
                <a:latin typeface="Calibri"/>
              </a:rPr>
              <a:t>Copied news stories count once</a:t>
            </a:r>
          </a:p>
          <a:p>
            <a:pPr algn="l" marL="256032" indent="-256032">
              <a:spcAft>
                <a:spcPts val="1400"/>
              </a:spcAft>
              <a:buClr>
                <a:srgbClr val="5EC8BC"/>
              </a:buClr>
              <a:buFont typeface="Arial"/>
              <a:buChar char="•"/>
            </a:pPr>
            <a:r>
              <a:rPr sz="1900" b="0">
                <a:solidFill>
                  <a:srgbClr val="FFFFFF"/>
                </a:solidFill>
                <a:latin typeface="Calibri"/>
              </a:rPr>
              <a:t>Multilingual: a Hindi post checked against an English 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16" name="Google Shape;216;p4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17" name="Google Shape;217;p4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18" name="Google Shape;218;p4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219" name="Google Shape;219;p4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220" name="Google Shape;220;p4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221" name="Google Shape;221;p4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22" name="Google Shape;222;p4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9.png" id="223" name="Google Shape;223;p4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24" name="Google Shape;224;p4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4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Technical Approach &amp; System Workflow</a:t>
              </a:r>
              <a:endParaRPr/>
            </a:p>
          </p:txBody>
        </p:sp>
      </p:grpSp>
      <p:sp>
        <p:nvSpPr>
          <p:cNvPr id="228" name="Google Shape;228;p4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  <p:txBody>
          <a:bodyPr/>
          <a:p/>
        </p:txBody>
      </p:sp>
      <p:sp>
        <p:nvSpPr>
          <p:cNvPr descr="input_file_9.png" id="229" name="Google Shape;229;p4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230" name="Google Shape;230;p4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231" name="Google Shape;231;p4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32" name="Google Shape;232;p4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33" name="Google Shape;233;p4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34" name="Google Shape;234;p4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35" name="Google Shape;235;p4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4 / 10</a:t>
              </a:r>
              <a:endParaRPr/>
            </a:p>
          </p:txBody>
        </p:sp>
      </p:grpSp>
      <p:sp>
        <p:nvSpPr>
          <p:cNvPr id="237" name="Google Shape;237;p4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38" name="Rounded Rectangle 237"/>
          <p:cNvSpPr/>
          <p:nvPr/>
        </p:nvSpPr>
        <p:spPr>
          <a:xfrm>
            <a:off x="685800" y="2194560"/>
            <a:ext cx="2258568" cy="2788920"/>
          </a:xfrm>
          <a:prstGeom prst="roundRect">
            <a:avLst>
              <a:gd name="adj" fmla="val 607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Oval 238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212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68680" y="3017520"/>
            <a:ext cx="193852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010" b="1">
                <a:solidFill>
                  <a:srgbClr val="0B1B2E"/>
                </a:solidFill>
                <a:latin typeface="Poppins"/>
              </a:rPr>
              <a:t>Ingest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889" b="0">
                <a:solidFill>
                  <a:srgbClr val="4B5563"/>
                </a:solidFill>
                <a:latin typeface="Calibri"/>
              </a:rPr>
              <a:t>Check-a-post / tipline, demo replay, live NDMA + GDACS polling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2953512" y="2624328"/>
            <a:ext cx="164592" cy="0"/>
          </a:xfrm>
          <a:prstGeom prst="line">
            <a:avLst/>
          </a:prstGeom>
          <a:ln w="28575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3127248" y="2194560"/>
            <a:ext cx="2258568" cy="2788920"/>
          </a:xfrm>
          <a:prstGeom prst="roundRect">
            <a:avLst>
              <a:gd name="adj" fmla="val 607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Oval 242"/>
          <p:cNvSpPr/>
          <p:nvPr/>
        </p:nvSpPr>
        <p:spPr>
          <a:xfrm>
            <a:off x="3310128" y="2377440"/>
            <a:ext cx="502920" cy="502920"/>
          </a:xfrm>
          <a:prstGeom prst="ellipse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212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310128" y="3017520"/>
            <a:ext cx="193852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010" b="1">
                <a:solidFill>
                  <a:srgbClr val="0B1B2E"/>
                </a:solidFill>
                <a:latin typeface="Poppins"/>
              </a:rPr>
              <a:t>Extract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889" b="0">
                <a:solidFill>
                  <a:srgbClr val="4B5563"/>
                </a:solidFill>
                <a:latin typeface="Calibri"/>
              </a:rPr>
              <a:t>Gemini splits the post into atomic facts; grounding guard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5394960" y="2624328"/>
            <a:ext cx="164592" cy="0"/>
          </a:xfrm>
          <a:prstGeom prst="line">
            <a:avLst/>
          </a:prstGeom>
          <a:ln w="28575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Rounded Rectangle 245"/>
          <p:cNvSpPr/>
          <p:nvPr/>
        </p:nvSpPr>
        <p:spPr>
          <a:xfrm>
            <a:off x="5568696" y="2194560"/>
            <a:ext cx="2258568" cy="2788920"/>
          </a:xfrm>
          <a:prstGeom prst="roundRect">
            <a:avLst>
              <a:gd name="adj" fmla="val 607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5751576" y="23774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212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751576" y="3017520"/>
            <a:ext cx="193852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010" b="1">
                <a:solidFill>
                  <a:srgbClr val="0B1B2E"/>
                </a:solidFill>
                <a:latin typeface="Poppins"/>
              </a:rPr>
              <a:t>Locate &amp; bind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889" b="0">
                <a:solidFill>
                  <a:srgbClr val="4B5563"/>
                </a:solidFill>
                <a:latin typeface="Calibri"/>
              </a:rPr>
              <a:t>Geocode the place; tie the claim to one real event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7836408" y="2624328"/>
            <a:ext cx="164592" cy="0"/>
          </a:xfrm>
          <a:prstGeom prst="line">
            <a:avLst/>
          </a:prstGeom>
          <a:ln w="28575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ounded Rectangle 249"/>
          <p:cNvSpPr/>
          <p:nvPr/>
        </p:nvSpPr>
        <p:spPr>
          <a:xfrm>
            <a:off x="8010144" y="2194560"/>
            <a:ext cx="2258568" cy="2788920"/>
          </a:xfrm>
          <a:prstGeom prst="roundRect">
            <a:avLst>
              <a:gd name="adj" fmla="val 607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Oval 250"/>
          <p:cNvSpPr/>
          <p:nvPr/>
        </p:nvSpPr>
        <p:spPr>
          <a:xfrm>
            <a:off x="8193024" y="23774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212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193024" y="3017520"/>
            <a:ext cx="193852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010" b="1">
                <a:solidFill>
                  <a:srgbClr val="0B1B2E"/>
                </a:solidFill>
                <a:latin typeface="Poppins"/>
              </a:rPr>
              <a:t>Gather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889" b="0">
                <a:solidFill>
                  <a:srgbClr val="4B5563"/>
                </a:solidFill>
                <a:latin typeface="Calibri"/>
              </a:rPr>
              <a:t>Evidence by hazard from 5 source layers</a:t>
            </a:r>
          </a:p>
        </p:txBody>
      </p:sp>
      <p:cxnSp>
        <p:nvCxnSpPr>
          <p:cNvPr id="253" name="Connector 252"/>
          <p:cNvCxnSpPr/>
          <p:nvPr/>
        </p:nvCxnSpPr>
        <p:spPr>
          <a:xfrm>
            <a:off x="10277856" y="2624328"/>
            <a:ext cx="164592" cy="0"/>
          </a:xfrm>
          <a:prstGeom prst="line">
            <a:avLst/>
          </a:prstGeom>
          <a:ln w="28575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ounded Rectangle 253"/>
          <p:cNvSpPr/>
          <p:nvPr/>
        </p:nvSpPr>
        <p:spPr>
          <a:xfrm>
            <a:off x="10451592" y="2194560"/>
            <a:ext cx="2258568" cy="2788920"/>
          </a:xfrm>
          <a:prstGeom prst="roundRect">
            <a:avLst>
              <a:gd name="adj" fmla="val 607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10634472" y="2377440"/>
            <a:ext cx="502920" cy="502920"/>
          </a:xfrm>
          <a:prstGeom prst="ellipse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212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634472" y="3017520"/>
            <a:ext cx="193852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010" b="1">
                <a:solidFill>
                  <a:srgbClr val="0B1B2E"/>
                </a:solidFill>
                <a:latin typeface="Poppins"/>
              </a:rPr>
              <a:t>Stance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889" b="0">
                <a:solidFill>
                  <a:srgbClr val="4B5563"/>
                </a:solidFill>
                <a:latin typeface="Calibri"/>
              </a:rPr>
              <a:t>Rules (numbers, physics, directives) + mDeBERTa NLI + e5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12719304" y="2624328"/>
            <a:ext cx="164592" cy="0"/>
          </a:xfrm>
          <a:prstGeom prst="line">
            <a:avLst/>
          </a:prstGeom>
          <a:ln w="28575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ounded Rectangle 257"/>
          <p:cNvSpPr/>
          <p:nvPr/>
        </p:nvSpPr>
        <p:spPr>
          <a:xfrm>
            <a:off x="12893040" y="2194560"/>
            <a:ext cx="2258568" cy="2788920"/>
          </a:xfrm>
          <a:prstGeom prst="roundRect">
            <a:avLst>
              <a:gd name="adj" fmla="val 607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Oval 258"/>
          <p:cNvSpPr/>
          <p:nvPr/>
        </p:nvSpPr>
        <p:spPr>
          <a:xfrm>
            <a:off x="13075920" y="23774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212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3075920" y="3017520"/>
            <a:ext cx="193852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010" b="1">
                <a:solidFill>
                  <a:srgbClr val="0B1B2E"/>
                </a:solidFill>
                <a:latin typeface="Poppins"/>
              </a:rPr>
              <a:t>Validity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889" b="0">
                <a:solidFill>
                  <a:srgbClr val="4B5563"/>
                </a:solidFill>
                <a:latin typeface="Calibri"/>
              </a:rPr>
              <a:t>Validity windows give HISTORICAL vs CURRENT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15160752" y="2624328"/>
            <a:ext cx="164591" cy="0"/>
          </a:xfrm>
          <a:prstGeom prst="line">
            <a:avLst/>
          </a:prstGeom>
          <a:ln w="28575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ounded Rectangle 261"/>
          <p:cNvSpPr/>
          <p:nvPr/>
        </p:nvSpPr>
        <p:spPr>
          <a:xfrm>
            <a:off x="15334488" y="2194560"/>
            <a:ext cx="2258568" cy="2788920"/>
          </a:xfrm>
          <a:prstGeom prst="roundRect">
            <a:avLst>
              <a:gd name="adj" fmla="val 607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Oval 262"/>
          <p:cNvSpPr/>
          <p:nvPr/>
        </p:nvSpPr>
        <p:spPr>
          <a:xfrm>
            <a:off x="15517368" y="23774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212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5517368" y="3017520"/>
            <a:ext cx="1938528" cy="1920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010" b="1">
                <a:solidFill>
                  <a:srgbClr val="0B1B2E"/>
                </a:solidFill>
                <a:latin typeface="Poppins"/>
              </a:rPr>
              <a:t>Decide &amp; explain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889" b="0">
                <a:solidFill>
                  <a:srgbClr val="4B5563"/>
                </a:solidFill>
                <a:latin typeface="Calibri"/>
              </a:rPr>
              <a:t>Rule table → status, confidence, cited evidence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85800" y="5029200"/>
            <a:ext cx="16916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889" b="0" i="1">
                <a:solidFill>
                  <a:srgbClr val="4B5563"/>
                </a:solidFill>
                <a:latin typeface="Calibri"/>
              </a:rPr>
              <a:t>Navy steps use AI models (Gemini, NLI). Every step is traced; the LLM only extracts and is grounding-checked.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685800" y="5577840"/>
            <a:ext cx="8778240" cy="379476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TextBox 266"/>
          <p:cNvSpPr txBox="1"/>
          <p:nvPr/>
        </p:nvSpPr>
        <p:spPr>
          <a:xfrm>
            <a:off x="96012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010" b="1">
                <a:solidFill>
                  <a:srgbClr val="0F766E"/>
                </a:solidFill>
                <a:latin typeface="Poppins"/>
              </a:rPr>
              <a:t>DECISION RULES (FIRST MATCH WINS)</a:t>
            </a:r>
          </a:p>
        </p:txBody>
      </p:sp>
      <p:sp>
        <p:nvSpPr>
          <p:cNvPr id="268" name="Oval 267"/>
          <p:cNvSpPr/>
          <p:nvPr/>
        </p:nvSpPr>
        <p:spPr>
          <a:xfrm>
            <a:off x="1005840" y="6409944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TextBox 268"/>
          <p:cNvSpPr txBox="1"/>
          <p:nvPr/>
        </p:nvSpPr>
        <p:spPr>
          <a:xfrm>
            <a:off x="1371600" y="6217920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1">
                <a:solidFill>
                  <a:srgbClr val="0B1B2E"/>
                </a:solidFill>
                <a:latin typeface="Poppins"/>
              </a:rPr>
              <a:t>Conflicting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3474720" y="6217920"/>
            <a:ext cx="585216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0">
                <a:solidFill>
                  <a:srgbClr val="1F2937"/>
                </a:solidFill>
                <a:latin typeface="Calibri"/>
              </a:rPr>
              <a:t>a fact is contradicted by positive evidence</a:t>
            </a:r>
          </a:p>
        </p:txBody>
      </p:sp>
      <p:sp>
        <p:nvSpPr>
          <p:cNvPr id="271" name="Oval 270"/>
          <p:cNvSpPr/>
          <p:nvPr/>
        </p:nvSpPr>
        <p:spPr>
          <a:xfrm>
            <a:off x="1005840" y="7123176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TextBox 271"/>
          <p:cNvSpPr txBox="1"/>
          <p:nvPr/>
        </p:nvSpPr>
        <p:spPr>
          <a:xfrm>
            <a:off x="1371600" y="6931152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1">
                <a:solidFill>
                  <a:srgbClr val="0B1B2E"/>
                </a:solidFill>
                <a:latin typeface="Poppins"/>
              </a:rPr>
              <a:t>Outdated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3474720" y="6931152"/>
            <a:ext cx="585216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0">
                <a:solidFill>
                  <a:srgbClr val="1F2937"/>
                </a:solidFill>
                <a:latin typeface="Calibri"/>
              </a:rPr>
              <a:t>CURRENT check: true at claim time, since superseded</a:t>
            </a:r>
          </a:p>
        </p:txBody>
      </p:sp>
      <p:sp>
        <p:nvSpPr>
          <p:cNvPr id="274" name="Oval 273"/>
          <p:cNvSpPr/>
          <p:nvPr/>
        </p:nvSpPr>
        <p:spPr>
          <a:xfrm>
            <a:off x="1005840" y="7836408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TextBox 274"/>
          <p:cNvSpPr txBox="1"/>
          <p:nvPr/>
        </p:nvSpPr>
        <p:spPr>
          <a:xfrm>
            <a:off x="1371600" y="7644383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1">
                <a:solidFill>
                  <a:srgbClr val="0B1B2E"/>
                </a:solidFill>
                <a:latin typeface="Poppins"/>
              </a:rPr>
              <a:t>Verified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474720" y="7644383"/>
            <a:ext cx="585216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0">
                <a:solidFill>
                  <a:srgbClr val="1F2937"/>
                </a:solidFill>
                <a:latin typeface="Calibri"/>
              </a:rPr>
              <a:t>every factual proposition is supported</a:t>
            </a:r>
          </a:p>
        </p:txBody>
      </p:sp>
      <p:sp>
        <p:nvSpPr>
          <p:cNvPr id="277" name="Oval 276"/>
          <p:cNvSpPr/>
          <p:nvPr/>
        </p:nvSpPr>
        <p:spPr>
          <a:xfrm>
            <a:off x="1005840" y="8549640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TextBox 277"/>
          <p:cNvSpPr txBox="1"/>
          <p:nvPr/>
        </p:nvSpPr>
        <p:spPr>
          <a:xfrm>
            <a:off x="1371600" y="8357615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1">
                <a:solidFill>
                  <a:srgbClr val="0B1B2E"/>
                </a:solidFill>
                <a:latin typeface="Poppins"/>
              </a:rPr>
              <a:t>Unverified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474720" y="8357615"/>
            <a:ext cx="585216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889" b="0">
                <a:solidFill>
                  <a:srgbClr val="1F2937"/>
                </a:solidFill>
                <a:latin typeface="Calibri"/>
              </a:rPr>
              <a:t>otherwise: partial support, no coverage, place unresolved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60120" y="90068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50" b="0" i="1">
                <a:solidFill>
                  <a:srgbClr val="4B5563"/>
                </a:solidFill>
                <a:latin typeface="Calibri"/>
              </a:rPr>
              <a:t>Subjective statements (“worst quake ever”) are shown but never scored.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9738360" y="5577840"/>
            <a:ext cx="7863840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TextBox 281"/>
          <p:cNvSpPr txBox="1"/>
          <p:nvPr/>
        </p:nvSpPr>
        <p:spPr>
          <a:xfrm>
            <a:off x="10012680" y="5687568"/>
            <a:ext cx="740664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20" b="1">
                <a:solidFill>
                  <a:srgbClr val="0F766E"/>
                </a:solidFill>
                <a:latin typeface="Poppins"/>
              </a:rPr>
              <a:t>Event binding (real pilot case)</a:t>
            </a:r>
          </a:p>
          <a:p>
            <a:pPr algn="l">
              <a:spcAft>
                <a:spcPts val="600"/>
              </a:spcAft>
            </a:pPr>
            <a:r>
              <a:rPr sz="2010" b="0">
                <a:solidFill>
                  <a:srgbClr val="1F2937"/>
                </a:solidFill>
                <a:latin typeface="Calibri"/>
              </a:rPr>
              <a:t>“12 m tsunami at Acapulco”, posted 20 Sep 2017, is tied to the </a:t>
            </a:r>
            <a:r>
              <a:rPr sz="2010" b="1">
                <a:solidFill>
                  <a:srgbClr val="1F2937"/>
                </a:solidFill>
                <a:latin typeface="Calibri"/>
              </a:rPr>
              <a:t>19 Sep Puebla M7.1</a:t>
            </a:r>
            <a:r>
              <a:rPr sz="2010" b="0">
                <a:solidFill>
                  <a:srgbClr val="1F2937"/>
                </a:solidFill>
                <a:latin typeface="Calibri"/>
              </a:rPr>
              <a:t> (USGS: inland, 236 km from Acapulco, no tsunami), not the 8 Sep Tehuantepec M8.2 that did cause one → </a:t>
            </a:r>
            <a:r>
              <a:rPr sz="2010" b="1">
                <a:solidFill>
                  <a:srgbClr val="0B1B2E"/>
                </a:solidFill>
                <a:latin typeface="Calibri"/>
              </a:rPr>
              <a:t>Conflicting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9738360" y="7955279"/>
            <a:ext cx="7863840" cy="1417320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TextBox 283"/>
          <p:cNvSpPr txBox="1"/>
          <p:nvPr/>
        </p:nvSpPr>
        <p:spPr>
          <a:xfrm>
            <a:off x="10012680" y="8046720"/>
            <a:ext cx="740664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120" b="1">
                <a:solidFill>
                  <a:srgbClr val="0F766E"/>
                </a:solidFill>
                <a:latin typeface="Poppins"/>
              </a:rPr>
              <a:t>Numeric conflict (synthetic demo)</a:t>
            </a:r>
          </a:p>
          <a:p>
            <a:pPr algn="l">
              <a:spcAft>
                <a:spcPts val="600"/>
              </a:spcAft>
            </a:pPr>
            <a:r>
              <a:rPr sz="2010" b="0">
                <a:solidFill>
                  <a:srgbClr val="1F2937"/>
                </a:solidFill>
                <a:latin typeface="Calibri"/>
              </a:rPr>
              <a:t>“M6.8 quake hits Delhi” vs seismic record M3.1 → </a:t>
            </a:r>
            <a:r>
              <a:rPr sz="2010" b="1">
                <a:solidFill>
                  <a:srgbClr val="0B1B2E"/>
                </a:solidFill>
                <a:latin typeface="Calibri"/>
              </a:rPr>
              <a:t>Conflicting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43" name="Google Shape;243;p5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4" name="Google Shape;244;p5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45" name="Google Shape;245;p5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246" name="Google Shape;246;p5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247" name="Google Shape;247;p5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248" name="Google Shape;248;p5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49" name="Google Shape;249;p5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8.png" id="250" name="Google Shape;250;p5"/>
          <p:cNvSpPr/>
          <p:nvPr/>
        </p:nvSpPr>
        <p:spPr>
          <a:xfrm>
            <a:off x="16952500" y="988324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51" name="Google Shape;251;p5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5"/>
          <p:cNvGrpSpPr/>
          <p:nvPr/>
        </p:nvGrpSpPr>
        <p:grpSpPr>
          <a:xfrm>
            <a:off x="981456" y="802176"/>
            <a:ext cx="15785735" cy="1073522"/>
            <a:chOff x="0" y="-38100"/>
            <a:chExt cx="21047646" cy="1431362"/>
          </a:xfrm>
        </p:grpSpPr>
        <p:sp>
          <p:nvSpPr>
            <p:cNvPr id="253" name="Google Shape;253;p5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54" name="Google Shape;254;p5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System Architecture</a:t>
              </a:r>
              <a:endParaRPr/>
            </a:p>
          </p:txBody>
        </p:sp>
      </p:grpSp>
      <p:sp>
        <p:nvSpPr>
          <p:cNvPr id="255" name="Google Shape;255;p5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  <p:txBody>
          <a:bodyPr/>
          <a:p/>
        </p:txBody>
      </p:sp>
      <p:sp>
        <p:nvSpPr>
          <p:cNvPr descr="input_file_9.png" id="256" name="Google Shape;256;p5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4" l="0" r="-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257" name="Google Shape;257;p5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8" l="0" r="8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258" name="Google Shape;258;p5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59" name="Google Shape;259;p5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60" name="Google Shape;260;p5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61" name="Google Shape;261;p5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62" name="Google Shape;262;p5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5 / 10</a:t>
              </a:r>
              <a:endParaRPr/>
            </a:p>
          </p:txBody>
        </p:sp>
      </p:grpSp>
      <p:sp>
        <p:nvSpPr>
          <p:cNvPr id="264" name="Google Shape;264;p5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65" name="Rounded Rectangle 264"/>
          <p:cNvSpPr/>
          <p:nvPr/>
        </p:nvSpPr>
        <p:spPr>
          <a:xfrm>
            <a:off x="685800" y="2148840"/>
            <a:ext cx="3794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TextBox 265"/>
          <p:cNvSpPr txBox="1"/>
          <p:nvPr/>
        </p:nvSpPr>
        <p:spPr>
          <a:xfrm>
            <a:off x="868680" y="22402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839" b="1">
                <a:solidFill>
                  <a:srgbClr val="0F766E"/>
                </a:solidFill>
                <a:latin typeface="Poppins"/>
              </a:rPr>
              <a:t>CLAIMS IN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68680" y="2651760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300"/>
              </a:spcAft>
              <a:buClr>
                <a:srgbClr val="0D9488"/>
              </a:buClr>
              <a:buFont typeface="Arial"/>
              <a:buChar char="•"/>
            </a:pPr>
            <a:r>
              <a:rPr sz="1839" b="0">
                <a:solidFill>
                  <a:srgbClr val="1F2937"/>
                </a:solidFill>
                <a:latin typeface="Calibri"/>
              </a:rPr>
              <a:t>Check-a-post / tipline API</a:t>
            </a:r>
          </a:p>
          <a:p>
            <a:pPr algn="l" marL="256032" indent="-256032">
              <a:spcAft>
                <a:spcPts val="300"/>
              </a:spcAft>
              <a:buClr>
                <a:srgbClr val="0D9488"/>
              </a:buClr>
              <a:buFont typeface="Arial"/>
              <a:buChar char="•"/>
            </a:pPr>
            <a:r>
              <a:rPr sz="1839" b="0">
                <a:solidFill>
                  <a:srgbClr val="1F2937"/>
                </a:solidFill>
                <a:latin typeface="Calibri"/>
              </a:rPr>
              <a:t>Demo replay (labelled synthetic)</a:t>
            </a:r>
          </a:p>
          <a:p>
            <a:pPr algn="l" marL="256032" indent="-256032">
              <a:spcAft>
                <a:spcPts val="300"/>
              </a:spcAft>
              <a:buClr>
                <a:srgbClr val="0D9488"/>
              </a:buClr>
              <a:buFont typeface="Arial"/>
              <a:buChar char="•"/>
            </a:pPr>
            <a:r>
              <a:rPr sz="1839" b="0">
                <a:solidFill>
                  <a:srgbClr val="1F2937"/>
                </a:solidFill>
                <a:latin typeface="Calibri"/>
              </a:rPr>
              <a:t>Pilot claims (real 2017 events)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685800" y="4434840"/>
            <a:ext cx="3794760" cy="4937760"/>
          </a:xfrm>
          <a:prstGeom prst="roundRect">
            <a:avLst>
              <a:gd name="adj" fmla="val 2891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TextBox 268"/>
          <p:cNvSpPr txBox="1"/>
          <p:nvPr/>
        </p:nvSpPr>
        <p:spPr>
          <a:xfrm>
            <a:off x="868680" y="45262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839" b="1">
                <a:solidFill>
                  <a:srgbClr val="0F766E"/>
                </a:solidFill>
                <a:latin typeface="Poppins"/>
              </a:rPr>
              <a:t>EVIDENCE · 5 LAYERS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868680" y="4956048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TextBox 270"/>
          <p:cNvSpPr txBox="1"/>
          <p:nvPr/>
        </p:nvSpPr>
        <p:spPr>
          <a:xfrm>
            <a:off x="1005840" y="499262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1 Official</a:t>
            </a:r>
          </a:p>
          <a:p>
            <a:pPr algn="l">
              <a:spcAft>
                <a:spcPts val="0"/>
              </a:spcAft>
            </a:pPr>
            <a:r>
              <a:rPr sz="1490" b="0">
                <a:solidFill>
                  <a:srgbClr val="1F2937"/>
                </a:solidFill>
                <a:latin typeface="Calibri"/>
              </a:rPr>
              <a:t>NDMA SACHET CAP, GDACS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68680" y="576072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TextBox 272"/>
          <p:cNvSpPr txBox="1"/>
          <p:nvPr/>
        </p:nvSpPr>
        <p:spPr>
          <a:xfrm>
            <a:off x="1005840" y="5797296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2 Sensors</a:t>
            </a:r>
          </a:p>
          <a:p>
            <a:pPr algn="l">
              <a:spcAft>
                <a:spcPts val="0"/>
              </a:spcAft>
            </a:pPr>
            <a:r>
              <a:rPr sz="1490" b="0">
                <a:solidFill>
                  <a:srgbClr val="1F2937"/>
                </a:solidFill>
                <a:latin typeface="Calibri"/>
              </a:rPr>
              <a:t>USGS, Open-Meteo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868680" y="6565392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TextBox 274"/>
          <p:cNvSpPr txBox="1"/>
          <p:nvPr/>
        </p:nvSpPr>
        <p:spPr>
          <a:xfrm>
            <a:off x="1005840" y="660196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3 Local news</a:t>
            </a:r>
          </a:p>
          <a:p>
            <a:pPr algn="l">
              <a:spcAft>
                <a:spcPts val="0"/>
              </a:spcAft>
            </a:pPr>
            <a:r>
              <a:rPr sz="1490" b="0">
                <a:solidFill>
                  <a:srgbClr val="1F2937"/>
                </a:solidFill>
                <a:latin typeface="Calibri"/>
              </a:rPr>
              <a:t>Google News (hi / mr / en), YouTube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68680" y="7370064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TextBox 276"/>
          <p:cNvSpPr txBox="1"/>
          <p:nvPr/>
        </p:nvSpPr>
        <p:spPr>
          <a:xfrm>
            <a:off x="1005840" y="74066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4 National news</a:t>
            </a:r>
          </a:p>
          <a:p>
            <a:pPr algn="l">
              <a:spcAft>
                <a:spcPts val="0"/>
              </a:spcAft>
            </a:pPr>
            <a:r>
              <a:rPr sz="1490" b="0">
                <a:solidFill>
                  <a:srgbClr val="1F2937"/>
                </a:solidFill>
                <a:latin typeface="Calibri"/>
              </a:rPr>
              <a:t>Google News, YouTube RSS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868680" y="8174736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TextBox 278"/>
          <p:cNvSpPr txBox="1"/>
          <p:nvPr/>
        </p:nvSpPr>
        <p:spPr>
          <a:xfrm>
            <a:off x="1005840" y="8211312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5 Other posts</a:t>
            </a:r>
          </a:p>
          <a:p>
            <a:pPr algn="l">
              <a:spcAft>
                <a:spcPts val="0"/>
              </a:spcAft>
            </a:pPr>
            <a:r>
              <a:rPr sz="1490" b="0">
                <a:solidFill>
                  <a:srgbClr val="1F2937"/>
                </a:solidFill>
                <a:latin typeface="Calibri"/>
              </a:rPr>
              <a:t>independent posts, same story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68680" y="89794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490" b="0">
                <a:solidFill>
                  <a:srgbClr val="4B5563"/>
                </a:solidFill>
                <a:latin typeface="Calibri"/>
              </a:rPr>
              <a:t>+ Nominatim geocoding (cached)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4983480" y="2148840"/>
            <a:ext cx="7818120" cy="5623560"/>
          </a:xfrm>
          <a:prstGeom prst="roundRect">
            <a:avLst>
              <a:gd name="adj" fmla="val 2439"/>
            </a:avLst>
          </a:prstGeom>
          <a:solidFill>
            <a:srgbClr val="F4F6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TextBox 281"/>
          <p:cNvSpPr txBox="1"/>
          <p:nvPr/>
        </p:nvSpPr>
        <p:spPr>
          <a:xfrm>
            <a:off x="5212080" y="2240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180" b="1">
                <a:solidFill>
                  <a:srgbClr val="0B1B2E"/>
                </a:solidFill>
                <a:latin typeface="Poppins"/>
              </a:rPr>
              <a:t>Backend · FastAPI (Python 3.12)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5212080" y="2743200"/>
            <a:ext cx="329184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TextBox 283"/>
          <p:cNvSpPr txBox="1"/>
          <p:nvPr/>
        </p:nvSpPr>
        <p:spPr>
          <a:xfrm>
            <a:off x="5349240" y="27889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Ingest poller</a:t>
            </a:r>
          </a:p>
          <a:p>
            <a:pPr algn="l">
              <a:spcAft>
                <a:spcPts val="0"/>
              </a:spcAft>
            </a:pPr>
            <a:r>
              <a:rPr sz="1720" b="0">
                <a:solidFill>
                  <a:srgbClr val="4B5563"/>
                </a:solidFill>
                <a:latin typeface="Calibri"/>
              </a:rPr>
              <a:t>NDMA + GDACS every 3 min; typed connectors with cache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8686800" y="2743200"/>
            <a:ext cx="393192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TextBox 285"/>
          <p:cNvSpPr txBox="1"/>
          <p:nvPr/>
        </p:nvSpPr>
        <p:spPr>
          <a:xfrm>
            <a:off x="8823960" y="2788920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Event bus → SSE /api/stream</a:t>
            </a:r>
          </a:p>
          <a:p>
            <a:pPr algn="l">
              <a:spcAft>
                <a:spcPts val="0"/>
              </a:spcAft>
            </a:pPr>
            <a:r>
              <a:rPr sz="1720" b="0">
                <a:solidFill>
                  <a:srgbClr val="4B5563"/>
                </a:solidFill>
                <a:latin typeface="Calibri"/>
              </a:rPr>
              <a:t>live verdicts, alerts, replay progress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5212080" y="3977639"/>
            <a:ext cx="7406640" cy="2240280"/>
          </a:xfrm>
          <a:prstGeom prst="roundRect">
            <a:avLst>
              <a:gd name="adj" fmla="val 4897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TextBox 287"/>
          <p:cNvSpPr txBox="1"/>
          <p:nvPr/>
        </p:nvSpPr>
        <p:spPr>
          <a:xfrm>
            <a:off x="5394960" y="4041648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950" b="1">
                <a:solidFill>
                  <a:srgbClr val="FFFFFF"/>
                </a:solidFill>
                <a:latin typeface="Poppins"/>
              </a:rPr>
              <a:t>Verifier agent · bounded state graph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5394960" y="455371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extract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6876288" y="4773168"/>
            <a:ext cx="164592" cy="0"/>
          </a:xfrm>
          <a:prstGeom prst="line">
            <a:avLst/>
          </a:prstGeom>
          <a:ln w="19050">
            <a:solidFill>
              <a:srgbClr val="9FB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Rounded Rectangle 290"/>
          <p:cNvSpPr/>
          <p:nvPr/>
        </p:nvSpPr>
        <p:spPr>
          <a:xfrm>
            <a:off x="7059168" y="455371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geocode</a:t>
            </a:r>
          </a:p>
        </p:txBody>
      </p:sp>
      <p:cxnSp>
        <p:nvCxnSpPr>
          <p:cNvPr id="292" name="Connector 291"/>
          <p:cNvCxnSpPr/>
          <p:nvPr/>
        </p:nvCxnSpPr>
        <p:spPr>
          <a:xfrm>
            <a:off x="8540496" y="4773168"/>
            <a:ext cx="164592" cy="0"/>
          </a:xfrm>
          <a:prstGeom prst="line">
            <a:avLst/>
          </a:prstGeom>
          <a:ln w="19050">
            <a:solidFill>
              <a:srgbClr val="9FB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Rounded Rectangle 292"/>
          <p:cNvSpPr/>
          <p:nvPr/>
        </p:nvSpPr>
        <p:spPr>
          <a:xfrm>
            <a:off x="8723376" y="455371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gather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10204704" y="4773168"/>
            <a:ext cx="164592" cy="0"/>
          </a:xfrm>
          <a:prstGeom prst="line">
            <a:avLst/>
          </a:prstGeom>
          <a:ln w="19050">
            <a:solidFill>
              <a:srgbClr val="9FB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Rounded Rectangle 294"/>
          <p:cNvSpPr/>
          <p:nvPr/>
        </p:nvSpPr>
        <p:spPr>
          <a:xfrm>
            <a:off x="10387584" y="4553712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bind event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5394960" y="519379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stance</a:t>
            </a:r>
          </a:p>
        </p:txBody>
      </p:sp>
      <p:cxnSp>
        <p:nvCxnSpPr>
          <p:cNvPr id="297" name="Connector 296"/>
          <p:cNvCxnSpPr/>
          <p:nvPr/>
        </p:nvCxnSpPr>
        <p:spPr>
          <a:xfrm>
            <a:off x="6876288" y="5413248"/>
            <a:ext cx="164592" cy="0"/>
          </a:xfrm>
          <a:prstGeom prst="line">
            <a:avLst/>
          </a:prstGeom>
          <a:ln w="19050">
            <a:solidFill>
              <a:srgbClr val="9FB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Rounded Rectangle 297"/>
          <p:cNvSpPr/>
          <p:nvPr/>
        </p:nvSpPr>
        <p:spPr>
          <a:xfrm>
            <a:off x="7059168" y="519379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validity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8540496" y="5413248"/>
            <a:ext cx="164592" cy="0"/>
          </a:xfrm>
          <a:prstGeom prst="line">
            <a:avLst/>
          </a:prstGeom>
          <a:ln w="19050">
            <a:solidFill>
              <a:srgbClr val="9FB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Rounded Rectangle 299"/>
          <p:cNvSpPr/>
          <p:nvPr/>
        </p:nvSpPr>
        <p:spPr>
          <a:xfrm>
            <a:off x="8723376" y="519379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decide</a:t>
            </a:r>
          </a:p>
        </p:txBody>
      </p:sp>
      <p:cxnSp>
        <p:nvCxnSpPr>
          <p:cNvPr id="301" name="Connector 300"/>
          <p:cNvCxnSpPr/>
          <p:nvPr/>
        </p:nvCxnSpPr>
        <p:spPr>
          <a:xfrm>
            <a:off x="10204704" y="5413248"/>
            <a:ext cx="164592" cy="0"/>
          </a:xfrm>
          <a:prstGeom prst="line">
            <a:avLst/>
          </a:prstGeom>
          <a:ln w="19050">
            <a:solidFill>
              <a:srgbClr val="9FB3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ounded Rectangle 301"/>
          <p:cNvSpPr/>
          <p:nvPr/>
        </p:nvSpPr>
        <p:spPr>
          <a:xfrm>
            <a:off x="10387584" y="519379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400"/>
              </a:spcAft>
            </a:pPr>
            <a:r>
              <a:rPr sz="1490" b="1">
                <a:solidFill>
                  <a:srgbClr val="FFFFFF"/>
                </a:solidFill>
                <a:latin typeface="Poppins"/>
              </a:rPr>
              <a:t>explain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5394960" y="5760720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490" b="0">
                <a:solidFill>
                  <a:srgbClr val="C9D3DE"/>
                </a:solidFill>
                <a:latin typeface="Calibri"/>
              </a:rPr>
              <a:t>deterministic steps · full trace stored per verdict</a:t>
            </a:r>
          </a:p>
        </p:txBody>
      </p:sp>
      <p:sp>
        <p:nvSpPr>
          <p:cNvPr id="304" name="Rounded Rectangle 303"/>
          <p:cNvSpPr/>
          <p:nvPr/>
        </p:nvSpPr>
        <p:spPr>
          <a:xfrm>
            <a:off x="5212080" y="6400800"/>
            <a:ext cx="4526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TextBox 304"/>
          <p:cNvSpPr txBox="1"/>
          <p:nvPr/>
        </p:nvSpPr>
        <p:spPr>
          <a:xfrm>
            <a:off x="5349240" y="6428232"/>
            <a:ext cx="43434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70" b="1">
                <a:solidFill>
                  <a:srgbClr val="0B1B2E"/>
                </a:solidFill>
                <a:latin typeface="Calibri"/>
              </a:rPr>
              <a:t>ML models</a:t>
            </a:r>
          </a:p>
          <a:p>
            <a:pPr algn="l">
              <a:spcAft>
                <a:spcPts val="0"/>
              </a:spcAft>
            </a:pPr>
            <a:r>
              <a:rPr sz="1670" b="0">
                <a:solidFill>
                  <a:srgbClr val="1F2937"/>
                </a:solidFill>
                <a:latin typeface="Calibri"/>
              </a:rPr>
              <a:t>Gemini gemini-3-flash-preview (extraction)</a:t>
            </a:r>
          </a:p>
          <a:p>
            <a:pPr algn="l">
              <a:spcAft>
                <a:spcPts val="0"/>
              </a:spcAft>
            </a:pPr>
            <a:r>
              <a:rPr sz="1670" b="0">
                <a:solidFill>
                  <a:srgbClr val="1F2937"/>
                </a:solidFill>
                <a:latin typeface="Calibri"/>
              </a:rPr>
              <a:t>mDeBERTa-v3 XNLI + multilingual-e5 (local)</a:t>
            </a:r>
          </a:p>
        </p:txBody>
      </p:sp>
      <p:sp>
        <p:nvSpPr>
          <p:cNvPr id="306" name="Rounded Rectangle 305"/>
          <p:cNvSpPr/>
          <p:nvPr/>
        </p:nvSpPr>
        <p:spPr>
          <a:xfrm>
            <a:off x="9921240" y="640080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TextBox 306"/>
          <p:cNvSpPr txBox="1"/>
          <p:nvPr/>
        </p:nvSpPr>
        <p:spPr>
          <a:xfrm>
            <a:off x="10058400" y="6428232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70" b="1">
                <a:solidFill>
                  <a:srgbClr val="0B1B2E"/>
                </a:solidFill>
                <a:latin typeface="Calibri"/>
              </a:rPr>
              <a:t>Beacon threat engine</a:t>
            </a:r>
          </a:p>
          <a:p>
            <a:pPr algn="l">
              <a:spcAft>
                <a:spcPts val="0"/>
              </a:spcAft>
            </a:pPr>
            <a:r>
              <a:rPr sz="1670" b="0">
                <a:solidFill>
                  <a:srgbClr val="1F2937"/>
                </a:solidFill>
                <a:latin typeface="Calibri"/>
              </a:rPr>
              <a:t>RED only on official alert or verified claim</a:t>
            </a:r>
          </a:p>
        </p:txBody>
      </p:sp>
      <p:sp>
        <p:nvSpPr>
          <p:cNvPr id="308" name="Rounded Rectangle 307"/>
          <p:cNvSpPr/>
          <p:nvPr/>
        </p:nvSpPr>
        <p:spPr>
          <a:xfrm>
            <a:off x="4983480" y="8001000"/>
            <a:ext cx="7818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9" name="Picture 308" descr="db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2080" y="8211312"/>
            <a:ext cx="457200" cy="457200"/>
          </a:xfrm>
          <a:prstGeom prst="rect">
            <a:avLst/>
          </a:prstGeom>
        </p:spPr>
      </p:pic>
      <p:sp>
        <p:nvSpPr>
          <p:cNvPr id="310" name="TextBox 309"/>
          <p:cNvSpPr txBox="1"/>
          <p:nvPr/>
        </p:nvSpPr>
        <p:spPr>
          <a:xfrm>
            <a:off x="5852160" y="8065008"/>
            <a:ext cx="68580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"/>
              </a:spcAft>
            </a:pPr>
            <a:r>
              <a:rPr sz="1720" b="1">
                <a:solidFill>
                  <a:srgbClr val="0B1B2E"/>
                </a:solidFill>
                <a:latin typeface="Calibri"/>
              </a:rPr>
              <a:t>SQLite (WAL) · schema v0.2</a:t>
            </a:r>
          </a:p>
          <a:p>
            <a:pPr algn="l">
              <a:spcAft>
                <a:spcPts val="100"/>
              </a:spcAft>
            </a:pPr>
            <a:r>
              <a:rPr sz="1720" b="0">
                <a:solidFill>
                  <a:srgbClr val="1F2937"/>
                </a:solidFill>
                <a:latin typeface="Calibri"/>
              </a:rPr>
              <a:t>Extended additively from the earlier team's v0.1: claims, propositions, evidence + validity windows, versioned verdicts, eval runs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13304520" y="2148840"/>
            <a:ext cx="4297680" cy="4892040"/>
          </a:xfrm>
          <a:prstGeom prst="roundRect">
            <a:avLst>
              <a:gd name="adj" fmla="val 3191"/>
            </a:avLst>
          </a:prstGeom>
          <a:solidFill>
            <a:srgbClr val="F4F6F8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TextBox 311"/>
          <p:cNvSpPr txBox="1"/>
          <p:nvPr/>
        </p:nvSpPr>
        <p:spPr>
          <a:xfrm>
            <a:off x="13487400" y="224028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180" b="1">
                <a:solidFill>
                  <a:srgbClr val="0B1B2E"/>
                </a:solidFill>
                <a:latin typeface="Poppins"/>
              </a:rPr>
              <a:t>Frontend</a:t>
            </a:r>
          </a:p>
          <a:p>
            <a:pPr algn="l">
              <a:spcAft>
                <a:spcPts val="0"/>
              </a:spcAft>
            </a:pPr>
            <a:r>
              <a:rPr sz="1610" b="0">
                <a:solidFill>
                  <a:srgbClr val="4B5563"/>
                </a:solidFill>
                <a:latin typeface="Calibri"/>
              </a:rPr>
              <a:t>React + Vite + Tailwind + Leaflet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13487400" y="3200400"/>
            <a:ext cx="393192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TextBox 313"/>
          <p:cNvSpPr txBox="1"/>
          <p:nvPr/>
        </p:nvSpPr>
        <p:spPr>
          <a:xfrm>
            <a:off x="13624560" y="3246120"/>
            <a:ext cx="3749039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50" b="1">
                <a:solidFill>
                  <a:srgbClr val="0B1B2E"/>
                </a:solidFill>
                <a:latin typeface="Calibri"/>
              </a:rPr>
              <a:t>Console</a:t>
            </a:r>
          </a:p>
          <a:p>
            <a:pPr algn="l">
              <a:spcAft>
                <a:spcPts val="0"/>
              </a:spcAft>
            </a:pPr>
            <a:r>
              <a:rPr sz="1950" b="0">
                <a:solidFill>
                  <a:srgbClr val="4B5563"/>
                </a:solidFill>
                <a:latin typeface="Calibri"/>
              </a:rPr>
              <a:t>responders: feed, evidence, map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13487400" y="4434840"/>
            <a:ext cx="393192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TextBox 315"/>
          <p:cNvSpPr txBox="1"/>
          <p:nvPr/>
        </p:nvSpPr>
        <p:spPr>
          <a:xfrm>
            <a:off x="13624560" y="4480559"/>
            <a:ext cx="3749039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50" b="1">
                <a:solidFill>
                  <a:srgbClr val="0B1B2E"/>
                </a:solidFill>
                <a:latin typeface="Calibri"/>
              </a:rPr>
              <a:t>Beacon</a:t>
            </a:r>
          </a:p>
          <a:p>
            <a:pPr algn="l">
              <a:spcAft>
                <a:spcPts val="0"/>
              </a:spcAft>
            </a:pPr>
            <a:r>
              <a:rPr sz="1950" b="0">
                <a:solidFill>
                  <a:srgbClr val="4B5563"/>
                </a:solidFill>
                <a:latin typeface="Calibri"/>
              </a:rPr>
              <a:t>citizens: phone web app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13487400" y="5669280"/>
            <a:ext cx="3931920" cy="105156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TextBox 317"/>
          <p:cNvSpPr txBox="1"/>
          <p:nvPr/>
        </p:nvSpPr>
        <p:spPr>
          <a:xfrm>
            <a:off x="13624560" y="5715000"/>
            <a:ext cx="3749039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50" b="1">
                <a:solidFill>
                  <a:srgbClr val="0B1B2E"/>
                </a:solidFill>
                <a:latin typeface="Calibri"/>
              </a:rPr>
              <a:t>Evaluation</a:t>
            </a:r>
          </a:p>
          <a:p>
            <a:pPr algn="l">
              <a:spcAft>
                <a:spcPts val="0"/>
              </a:spcAft>
            </a:pPr>
            <a:r>
              <a:rPr sz="1950" b="0">
                <a:solidFill>
                  <a:srgbClr val="4B5563"/>
                </a:solidFill>
                <a:latin typeface="Calibri"/>
              </a:rPr>
              <a:t>metrics + confusion matrix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13304520" y="7269480"/>
            <a:ext cx="4297680" cy="210312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A7B2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TextBox 319"/>
          <p:cNvSpPr txBox="1"/>
          <p:nvPr/>
        </p:nvSpPr>
        <p:spPr>
          <a:xfrm>
            <a:off x="13487400" y="7333488"/>
            <a:ext cx="40233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39" b="1">
                <a:solidFill>
                  <a:srgbClr val="6B7785"/>
                </a:solidFill>
                <a:latin typeface="Poppins"/>
              </a:rPr>
              <a:t>Planned (not built)</a:t>
            </a:r>
          </a:p>
          <a:p>
            <a:pPr algn="l">
              <a:spcAft>
                <a:spcPts val="0"/>
              </a:spcAft>
            </a:pPr>
            <a:r>
              <a:rPr sz="1720" b="0">
                <a:solidFill>
                  <a:srgbClr val="6B7785"/>
                </a:solidFill>
                <a:latin typeface="Calibri"/>
              </a:rPr>
              <a:t>Recycled image/video checks</a:t>
            </a:r>
          </a:p>
          <a:p>
            <a:pPr algn="l">
              <a:spcAft>
                <a:spcPts val="0"/>
              </a:spcAft>
            </a:pPr>
            <a:r>
              <a:rPr sz="1720" b="0">
                <a:solidFill>
                  <a:srgbClr val="6B7785"/>
                </a:solidFill>
                <a:latin typeface="Calibri"/>
              </a:rPr>
              <a:t>Mobile push notifications</a:t>
            </a:r>
          </a:p>
          <a:p>
            <a:pPr algn="l">
              <a:spcAft>
                <a:spcPts val="0"/>
              </a:spcAft>
            </a:pPr>
            <a:r>
              <a:rPr sz="1720" b="0">
                <a:solidFill>
                  <a:srgbClr val="6B7785"/>
                </a:solidFill>
                <a:latin typeface="Calibri"/>
              </a:rPr>
              <a:t>Review UI + ~50-case benchmark</a:t>
            </a:r>
          </a:p>
          <a:p>
            <a:pPr algn="l">
              <a:spcAft>
                <a:spcPts val="0"/>
              </a:spcAft>
            </a:pPr>
            <a:r>
              <a:rPr sz="1720" b="0">
                <a:solidFill>
                  <a:srgbClr val="6B7785"/>
                </a:solidFill>
                <a:latin typeface="Calibri"/>
              </a:rPr>
              <a:t>GPU acceleration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4480560" y="3200400"/>
            <a:ext cx="502920" cy="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4480560" y="6583680"/>
            <a:ext cx="502920" cy="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12801600" y="4480560"/>
            <a:ext cx="502920" cy="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12801600" y="5120640"/>
            <a:ext cx="502920" cy="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8869680" y="7772400"/>
            <a:ext cx="0" cy="228600"/>
          </a:xfrm>
          <a:prstGeom prst="line">
            <a:avLst/>
          </a:prstGeom>
          <a:ln w="2540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TextBox 325"/>
          <p:cNvSpPr txBox="1"/>
          <p:nvPr/>
        </p:nvSpPr>
        <p:spPr>
          <a:xfrm>
            <a:off x="12755880" y="397763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400"/>
              </a:spcAft>
            </a:pPr>
            <a:r>
              <a:rPr sz="1260" b="0">
                <a:solidFill>
                  <a:srgbClr val="4B5563"/>
                </a:solidFill>
                <a:latin typeface="Calibri"/>
              </a:rPr>
              <a:t>REST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2755880" y="5166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400"/>
              </a:spcAft>
            </a:pPr>
            <a:r>
              <a:rPr sz="1260" b="0">
                <a:solidFill>
                  <a:srgbClr val="4B5563"/>
                </a:solidFill>
                <a:latin typeface="Calibri"/>
              </a:rPr>
              <a:t>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70" name="Google Shape;270;p6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71" name="Google Shape;271;p6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72" name="Google Shape;272;p6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273" name="Google Shape;273;p6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274" name="Google Shape;274;p6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275" name="Google Shape;275;p6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76" name="Google Shape;276;p6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9.png" id="277" name="Google Shape;277;p6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78" name="Google Shape;278;p6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6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280" name="Google Shape;280;p6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81" name="Google Shape;281;p6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Technology Stack &amp; Implementation</a:t>
              </a:r>
              <a:endParaRPr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  <p:txBody>
          <a:bodyPr/>
          <a:p/>
        </p:txBody>
      </p:sp>
      <p:sp>
        <p:nvSpPr>
          <p:cNvPr descr="input_file_9.png" id="283" name="Google Shape;283;p6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284" name="Google Shape;284;p6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285" name="Google Shape;285;p6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86" name="Google Shape;286;p6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87" name="Google Shape;287;p6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88" name="Google Shape;288;p6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89" name="Google Shape;289;p6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6 / 10</a:t>
              </a:r>
              <a:endParaRPr/>
            </a:p>
          </p:txBody>
        </p:sp>
      </p:grpSp>
      <p:sp>
        <p:nvSpPr>
          <p:cNvPr id="291" name="Google Shape;291;p6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92" name="Rounded Rectangle 291"/>
          <p:cNvSpPr/>
          <p:nvPr/>
        </p:nvSpPr>
        <p:spPr>
          <a:xfrm>
            <a:off x="685800" y="2148840"/>
            <a:ext cx="83210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ounded Rectangle 292"/>
          <p:cNvSpPr/>
          <p:nvPr/>
        </p:nvSpPr>
        <p:spPr>
          <a:xfrm>
            <a:off x="914400" y="2350008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4" name="Picture 293" descr="monitor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5" y="2478024"/>
            <a:ext cx="384048" cy="384048"/>
          </a:xfrm>
          <a:prstGeom prst="rect">
            <a:avLst/>
          </a:prstGeom>
        </p:spPr>
      </p:pic>
      <p:sp>
        <p:nvSpPr>
          <p:cNvPr id="295" name="TextBox 294"/>
          <p:cNvSpPr txBox="1"/>
          <p:nvPr/>
        </p:nvSpPr>
        <p:spPr>
          <a:xfrm>
            <a:off x="1737360" y="239572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310" b="1">
                <a:solidFill>
                  <a:srgbClr val="0B1B2E"/>
                </a:solidFill>
                <a:latin typeface="Poppins"/>
              </a:rPr>
              <a:t>Frontend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960120" y="3136392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React 18 + Vite 5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Console, Beacon and Eval pages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960120" y="3813048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Tailwind CSS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shared design tokens (navy / teal / saffron)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60120" y="4489704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Leaflet + OpenStreetMap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alert polygons, claim pins, quake points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9281160" y="2148840"/>
            <a:ext cx="83210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Rounded Rectangle 299"/>
          <p:cNvSpPr/>
          <p:nvPr/>
        </p:nvSpPr>
        <p:spPr>
          <a:xfrm>
            <a:off x="9509760" y="2350008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1" name="Picture 300" descr="server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37776" y="2478024"/>
            <a:ext cx="384048" cy="384048"/>
          </a:xfrm>
          <a:prstGeom prst="rect">
            <a:avLst/>
          </a:prstGeom>
        </p:spPr>
      </p:pic>
      <p:sp>
        <p:nvSpPr>
          <p:cNvPr id="302" name="TextBox 301"/>
          <p:cNvSpPr txBox="1"/>
          <p:nvPr/>
        </p:nvSpPr>
        <p:spPr>
          <a:xfrm>
            <a:off x="10332720" y="239572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310" b="1">
                <a:solidFill>
                  <a:srgbClr val="0B1B2E"/>
                </a:solidFill>
                <a:latin typeface="Poppins"/>
              </a:rPr>
              <a:t>Backend &amp; API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9555480" y="3136392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FastAPI + Uvicorn + Pydantic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typed REST API, check-a-post / tipline endpoint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555480" y="3813048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sse-starlette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live verdicts and alerts over SSE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9555480" y="4489704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httpx + feedparser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connectors with timeouts and response cache</a:t>
            </a:r>
          </a:p>
        </p:txBody>
      </p:sp>
      <p:sp>
        <p:nvSpPr>
          <p:cNvPr id="306" name="Rounded Rectangle 305"/>
          <p:cNvSpPr/>
          <p:nvPr/>
        </p:nvSpPr>
        <p:spPr>
          <a:xfrm>
            <a:off x="685800" y="5349240"/>
            <a:ext cx="83210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ounded Rectangle 306"/>
          <p:cNvSpPr/>
          <p:nvPr/>
        </p:nvSpPr>
        <p:spPr>
          <a:xfrm>
            <a:off x="914400" y="5550407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8" name="Picture 307" descr="brain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2415" y="5678423"/>
            <a:ext cx="384048" cy="384048"/>
          </a:xfrm>
          <a:prstGeom prst="rect">
            <a:avLst/>
          </a:prstGeom>
        </p:spPr>
      </p:pic>
      <p:sp>
        <p:nvSpPr>
          <p:cNvPr id="309" name="TextBox 308"/>
          <p:cNvSpPr txBox="1"/>
          <p:nvPr/>
        </p:nvSpPr>
        <p:spPr>
          <a:xfrm>
            <a:off x="1737360" y="5596127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310" b="1">
                <a:solidFill>
                  <a:srgbClr val="0B1B2E"/>
                </a:solidFill>
                <a:latin typeface="Poppins"/>
              </a:rPr>
              <a:t>AI / ML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960120" y="6336792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Gemini gemini-3-flash-preview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atomic-fact extraction (JSON schema); fallbacks: lighter model, rules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960120" y="7013448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mDeBERTa-v3 XNLI (multilingual)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stance: supports / contradicts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960120" y="7690104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multilingual-e5-small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retrieval and copy detection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9281160" y="5349240"/>
            <a:ext cx="832104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ounded Rectangle 313"/>
          <p:cNvSpPr/>
          <p:nvPr/>
        </p:nvSpPr>
        <p:spPr>
          <a:xfrm>
            <a:off x="9509760" y="5550407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5" name="Picture 314" descr="db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7776" y="5678423"/>
            <a:ext cx="384048" cy="384048"/>
          </a:xfrm>
          <a:prstGeom prst="rect">
            <a:avLst/>
          </a:prstGeom>
        </p:spPr>
      </p:pic>
      <p:sp>
        <p:nvSpPr>
          <p:cNvPr id="316" name="TextBox 315"/>
          <p:cNvSpPr txBox="1"/>
          <p:nvPr/>
        </p:nvSpPr>
        <p:spPr>
          <a:xfrm>
            <a:off x="10332720" y="5596127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310" b="1">
                <a:solidFill>
                  <a:srgbClr val="0B1B2E"/>
                </a:solidFill>
                <a:latin typeface="Poppins"/>
              </a:rPr>
              <a:t>Data &amp; geo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9555480" y="6336792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SQLite (WAL), schema v0.2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additive migration of the earlier team's dataset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9555480" y="7013448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shapely + Nominatim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point-in-alert-polygon checks; cached geocoding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555480" y="7690104"/>
            <a:ext cx="7863840" cy="676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980" b="1">
                <a:solidFill>
                  <a:srgbClr val="0F766E"/>
                </a:solidFill>
                <a:latin typeface="Calibri"/>
              </a:rPr>
              <a:t>dateparser + langdetect</a:t>
            </a:r>
          </a:p>
          <a:p>
            <a:pPr algn="l">
              <a:spcAft>
                <a:spcPts val="0"/>
              </a:spcAft>
            </a:pPr>
            <a:r>
              <a:rPr sz="1760" b="0">
                <a:solidFill>
                  <a:srgbClr val="4B5563"/>
                </a:solidFill>
                <a:latin typeface="Calibri"/>
              </a:rPr>
              <a:t>claimed times and languages (en / hi / mr)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685800" y="8595360"/>
            <a:ext cx="16916400" cy="804672"/>
          </a:xfrm>
          <a:prstGeom prst="roundRect">
            <a:avLst>
              <a:gd name="adj" fmla="val 13636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TextBox 320"/>
          <p:cNvSpPr txBox="1"/>
          <p:nvPr/>
        </p:nvSpPr>
        <p:spPr>
          <a:xfrm>
            <a:off x="960120" y="8595360"/>
            <a:ext cx="1645920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5EC8BC"/>
                </a:solidFill>
                <a:latin typeface="Calibri"/>
              </a:rPr>
              <a:t>Decisions:  </a:t>
            </a:r>
            <a:r>
              <a:rPr sz="1650" b="0">
                <a:solidFill>
                  <a:srgbClr val="FFFFFF"/>
                </a:solidFill>
                <a:latin typeface="Calibri"/>
              </a:rPr>
              <a:t>grounding guard (facts must appear in the post)  ·  snapshot mode for an offline demo  ·  every synthetic item labelled  ·  keys only in .env  ·  run_eval.py scores each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97" name="Google Shape;297;p7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98" name="Google Shape;298;p7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99" name="Google Shape;299;p7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300" name="Google Shape;300;p7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301" name="Google Shape;301;p7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302" name="Google Shape;302;p7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03" name="Google Shape;303;p7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8.png" id="304" name="Google Shape;304;p7"/>
          <p:cNvSpPr/>
          <p:nvPr/>
        </p:nvSpPr>
        <p:spPr>
          <a:xfrm>
            <a:off x="16952500" y="988324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05" name="Google Shape;305;p7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6" name="Google Shape;306;p7"/>
          <p:cNvGrpSpPr/>
          <p:nvPr/>
        </p:nvGrpSpPr>
        <p:grpSpPr>
          <a:xfrm>
            <a:off x="981456" y="835350"/>
            <a:ext cx="15785735" cy="1073522"/>
            <a:chOff x="0" y="-38100"/>
            <a:chExt cx="21047646" cy="1431362"/>
          </a:xfrm>
        </p:grpSpPr>
        <p:sp>
          <p:nvSpPr>
            <p:cNvPr id="307" name="Google Shape;307;p7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308" name="Google Shape;308;p7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Prototype &amp; Key Features</a:t>
              </a:r>
              <a:endParaRPr/>
            </a:p>
          </p:txBody>
        </p:sp>
      </p:grpSp>
      <p:sp>
        <p:nvSpPr>
          <p:cNvPr id="309" name="Google Shape;309;p7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  <p:txBody>
          <a:bodyPr/>
          <a:p/>
        </p:txBody>
      </p:sp>
      <p:sp>
        <p:nvSpPr>
          <p:cNvPr descr="input_file_9.png" id="310" name="Google Shape;310;p7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4" l="0" r="-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311" name="Google Shape;311;p7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8" l="0" r="8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312" name="Google Shape;312;p7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7 / 10</a:t>
              </a:r>
              <a:endParaRPr/>
            </a:p>
          </p:txBody>
        </p:sp>
      </p:grpSp>
      <p:sp>
        <p:nvSpPr>
          <p:cNvPr id="318" name="Google Shape;318;p7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pic>
        <p:nvPicPr>
          <p:cNvPr id="319" name="Picture 318" descr="console_da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194560"/>
            <a:ext cx="10241280" cy="6400799"/>
          </a:xfrm>
          <a:prstGeom prst="rect">
            <a:avLst/>
          </a:prstGeom>
          <a:ln w="15875">
            <a:solidFill>
              <a:srgbClr val="D5DDE6"/>
            </a:solidFill>
          </a:ln>
        </p:spPr>
      </p:pic>
      <p:pic>
        <p:nvPicPr>
          <p:cNvPr id="320" name="Picture 319" descr="bea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01400" y="2194560"/>
            <a:ext cx="2977116" cy="6400799"/>
          </a:xfrm>
          <a:prstGeom prst="rect">
            <a:avLst/>
          </a:prstGeom>
          <a:ln w="15875">
            <a:solidFill>
              <a:srgbClr val="D5DDE6"/>
            </a:solidFill>
          </a:ln>
        </p:spPr>
      </p:pic>
      <p:sp>
        <p:nvSpPr>
          <p:cNvPr id="321" name="TextBox 320"/>
          <p:cNvSpPr txBox="1"/>
          <p:nvPr/>
        </p:nvSpPr>
        <p:spPr>
          <a:xfrm>
            <a:off x="685800" y="8668511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10" b="1">
                <a:solidFill>
                  <a:srgbClr val="0B1B2E"/>
                </a:solidFill>
                <a:latin typeface="Calibri"/>
              </a:rPr>
              <a:t>Responder Console: </a:t>
            </a:r>
            <a:r>
              <a:rPr sz="1610" b="0">
                <a:solidFill>
                  <a:srgbClr val="4B5563"/>
                </a:solidFill>
                <a:latin typeface="Calibri"/>
              </a:rPr>
              <a:t>a dam-burst rumour marked Conflicting, with the official notice that contradicts it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1201400" y="8668511"/>
            <a:ext cx="3251436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10" b="1">
                <a:solidFill>
                  <a:srgbClr val="0B1B2E"/>
                </a:solidFill>
                <a:latin typeface="Calibri"/>
              </a:rPr>
              <a:t>Beacon: </a:t>
            </a:r>
            <a:r>
              <a:rPr sz="1610" b="0">
                <a:solidFill>
                  <a:srgbClr val="4B5563"/>
                </a:solidFill>
                <a:latin typeface="Calibri"/>
              </a:rPr>
              <a:t>official alert + rumour check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14452836" y="2194560"/>
            <a:ext cx="3149363" cy="4343400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TextBox 323"/>
          <p:cNvSpPr txBox="1"/>
          <p:nvPr/>
        </p:nvSpPr>
        <p:spPr>
          <a:xfrm>
            <a:off x="14635716" y="2286000"/>
            <a:ext cx="287504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2070" b="1">
                <a:solidFill>
                  <a:srgbClr val="0B1B2E"/>
                </a:solidFill>
                <a:latin typeface="Poppins"/>
              </a:rPr>
              <a:t>Working now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4635716" y="2743200"/>
            <a:ext cx="2875043" cy="37490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500"/>
              </a:spcAft>
              <a:buClr>
                <a:srgbClr val="0D9488"/>
              </a:buClr>
              <a:buFont typeface="Arial"/>
              <a:buChar char="•"/>
            </a:pPr>
            <a:r>
              <a:rPr sz="1720" b="0">
                <a:solidFill>
                  <a:srgbClr val="1F2937"/>
                </a:solidFill>
                <a:latin typeface="Calibri"/>
              </a:rPr>
              <a:t>Claim → verdict with cited evidence</a:t>
            </a:r>
          </a:p>
          <a:p>
            <a:pPr algn="l" marL="256032" indent="-256032">
              <a:spcAft>
                <a:spcPts val="500"/>
              </a:spcAft>
              <a:buClr>
                <a:srgbClr val="0D9488"/>
              </a:buClr>
              <a:buFont typeface="Arial"/>
              <a:buChar char="•"/>
            </a:pPr>
            <a:r>
              <a:rPr sz="1720" b="0">
                <a:solidFill>
                  <a:srgbClr val="1F2937"/>
                </a:solidFill>
                <a:latin typeface="Calibri"/>
              </a:rPr>
              <a:t>Map: 300 live NDMA / GDACS alert areas</a:t>
            </a:r>
          </a:p>
          <a:p>
            <a:pPr algn="l" marL="256032" indent="-256032">
              <a:spcAft>
                <a:spcPts val="500"/>
              </a:spcAft>
              <a:buClr>
                <a:srgbClr val="0D9488"/>
              </a:buClr>
              <a:buFont typeface="Arial"/>
              <a:buChar char="•"/>
            </a:pPr>
            <a:r>
              <a:rPr sz="1720" b="0">
                <a:solidFill>
                  <a:srgbClr val="1F2937"/>
                </a:solidFill>
                <a:latin typeface="Calibri"/>
              </a:rPr>
              <a:t>Current vs Historical toggle</a:t>
            </a:r>
          </a:p>
          <a:p>
            <a:pPr algn="l" marL="256032" indent="-256032">
              <a:spcAft>
                <a:spcPts val="500"/>
              </a:spcAft>
              <a:buClr>
                <a:srgbClr val="0D9488"/>
              </a:buClr>
              <a:buFont typeface="Arial"/>
              <a:buChar char="•"/>
            </a:pPr>
            <a:r>
              <a:rPr sz="1720" b="0">
                <a:solidFill>
                  <a:srgbClr val="1F2937"/>
                </a:solidFill>
                <a:latin typeface="Calibri"/>
              </a:rPr>
              <a:t>Hindi post verified against an English alert</a:t>
            </a:r>
          </a:p>
          <a:p>
            <a:pPr algn="l" marL="256032" indent="-256032">
              <a:spcAft>
                <a:spcPts val="500"/>
              </a:spcAft>
              <a:buClr>
                <a:srgbClr val="0D9488"/>
              </a:buClr>
              <a:buFont typeface="Arial"/>
              <a:buChar char="•"/>
            </a:pPr>
            <a:r>
              <a:rPr sz="1720" b="0">
                <a:solidFill>
                  <a:srgbClr val="1F2937"/>
                </a:solidFill>
                <a:latin typeface="Calibri"/>
              </a:rPr>
              <a:t>Beacon alert + rumour cards</a:t>
            </a:r>
          </a:p>
          <a:p>
            <a:pPr algn="l" marL="256032" indent="-256032">
              <a:spcAft>
                <a:spcPts val="500"/>
              </a:spcAft>
              <a:buClr>
                <a:srgbClr val="0D9488"/>
              </a:buClr>
              <a:buFont typeface="Arial"/>
              <a:buChar char="•"/>
            </a:pPr>
            <a:r>
              <a:rPr sz="1720" b="0">
                <a:solidFill>
                  <a:srgbClr val="1F2937"/>
                </a:solidFill>
                <a:latin typeface="Calibri"/>
              </a:rPr>
              <a:t>Replay demo over SSE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14452836" y="6720840"/>
            <a:ext cx="3149363" cy="2651760"/>
          </a:xfrm>
          <a:prstGeom prst="roundRect">
            <a:avLst>
              <a:gd name="adj" fmla="val 5172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TextBox 326"/>
          <p:cNvSpPr txBox="1"/>
          <p:nvPr/>
        </p:nvSpPr>
        <p:spPr>
          <a:xfrm>
            <a:off x="14635716" y="6812280"/>
            <a:ext cx="2875043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839" b="1">
                <a:solidFill>
                  <a:srgbClr val="0B1B2E"/>
                </a:solidFill>
                <a:latin typeface="Poppins"/>
              </a:rPr>
              <a:t>Data honesty</a:t>
            </a:r>
          </a:p>
          <a:p>
            <a:pPr algn="l">
              <a:spcAft>
                <a:spcPts val="400"/>
              </a:spcAft>
            </a:pPr>
            <a:r>
              <a:rPr sz="1720" b="0">
                <a:solidFill>
                  <a:srgbClr val="1F2937"/>
                </a:solidFill>
                <a:latin typeface="Calibri"/>
              </a:rPr>
              <a:t>Pune flood and Delhi quake posts are synthetic and labelled in the UI.</a:t>
            </a:r>
          </a:p>
          <a:p>
            <a:pPr algn="l">
              <a:spcAft>
                <a:spcPts val="400"/>
              </a:spcAft>
            </a:pPr>
            <a:r>
              <a:rPr sz="1720" b="1">
                <a:solidFill>
                  <a:srgbClr val="1F2937"/>
                </a:solidFill>
                <a:latin typeface="Calibri"/>
              </a:rPr>
              <a:t>Live NDMA / GDACS alerts are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324" name="Google Shape;324;p8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25" name="Google Shape;325;p8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326" name="Google Shape;326;p8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327" name="Google Shape;327;p8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328" name="Google Shape;328;p8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329" name="Google Shape;329;p8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30" name="Google Shape;330;p8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9.png" id="331" name="Google Shape;331;p8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32" name="Google Shape;332;p8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3" name="Google Shape;333;p8"/>
          <p:cNvGrpSpPr/>
          <p:nvPr/>
        </p:nvGrpSpPr>
        <p:grpSpPr>
          <a:xfrm>
            <a:off x="878510" y="845978"/>
            <a:ext cx="15785735" cy="1073522"/>
            <a:chOff x="0" y="-38100"/>
            <a:chExt cx="21047646" cy="1431362"/>
          </a:xfrm>
        </p:grpSpPr>
        <p:sp>
          <p:nvSpPr>
            <p:cNvPr id="334" name="Google Shape;334;p8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335" name="Google Shape;335;p8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Feasibility, Impact &amp; Benefits</a:t>
              </a:r>
              <a:endParaRPr/>
            </a:p>
          </p:txBody>
        </p:sp>
      </p:grpSp>
      <p:sp>
        <p:nvSpPr>
          <p:cNvPr id="336" name="Google Shape;336;p8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  <p:txBody>
          <a:bodyPr/>
          <a:p/>
        </p:txBody>
      </p:sp>
      <p:sp>
        <p:nvSpPr>
          <p:cNvPr descr="input_file_9.png" id="337" name="Google Shape;337;p8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8.png" id="338" name="Google Shape;338;p8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339" name="Google Shape;339;p8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340" name="Google Shape;340;p8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41" name="Google Shape;341;p8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42" name="Google Shape;342;p8"/>
          <p:cNvGrpSpPr/>
          <p:nvPr/>
        </p:nvGrpSpPr>
        <p:grpSpPr>
          <a:xfrm>
            <a:off x="16259289" y="9667874"/>
            <a:ext cx="1387030" cy="492988"/>
            <a:chOff x="0" y="-19050"/>
            <a:chExt cx="1849374" cy="657317"/>
          </a:xfrm>
        </p:grpSpPr>
        <p:sp>
          <p:nvSpPr>
            <p:cNvPr id="343" name="Google Shape;343;p8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8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8 / 10</a:t>
              </a:r>
              <a:endParaRPr/>
            </a:p>
          </p:txBody>
        </p:sp>
      </p:grpSp>
      <p:sp>
        <p:nvSpPr>
          <p:cNvPr id="345" name="Google Shape;345;p8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346" name="TextBox 345"/>
          <p:cNvSpPr txBox="1"/>
          <p:nvPr/>
        </p:nvSpPr>
        <p:spPr>
          <a:xfrm>
            <a:off x="685800" y="2194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870" b="1">
                <a:solidFill>
                  <a:srgbClr val="0F766E"/>
                </a:solidFill>
                <a:latin typeface="Poppins"/>
              </a:rPr>
              <a:t>PILOT EVALUATION · APP SCREENSHOT</a:t>
            </a:r>
          </a:p>
        </p:txBody>
      </p:sp>
      <p:pic>
        <p:nvPicPr>
          <p:cNvPr id="347" name="Picture 346" descr="eval_cr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633472"/>
            <a:ext cx="7863840" cy="3943798"/>
          </a:xfrm>
          <a:prstGeom prst="rect">
            <a:avLst/>
          </a:prstGeom>
          <a:ln w="15875">
            <a:solidFill>
              <a:srgbClr val="D5DDE6"/>
            </a:solidFill>
          </a:ln>
        </p:spPr>
      </p:pic>
      <p:sp>
        <p:nvSpPr>
          <p:cNvPr id="348" name="Rounded Rectangle 347"/>
          <p:cNvSpPr/>
          <p:nvPr/>
        </p:nvSpPr>
        <p:spPr>
          <a:xfrm>
            <a:off x="685800" y="6760150"/>
            <a:ext cx="7863840" cy="960120"/>
          </a:xfrm>
          <a:prstGeom prst="roundRect">
            <a:avLst>
              <a:gd name="adj" fmla="val 11428"/>
            </a:avLst>
          </a:prstGeom>
          <a:solidFill>
            <a:srgbClr val="FEF3D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TextBox 348"/>
          <p:cNvSpPr txBox="1"/>
          <p:nvPr/>
        </p:nvSpPr>
        <p:spPr>
          <a:xfrm>
            <a:off x="914400" y="6796726"/>
            <a:ext cx="7452360" cy="8869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Calibri"/>
              </a:rPr>
              <a:t>Not a held-out accuracy. </a:t>
            </a:r>
            <a:r>
              <a:rPr sz="1600" b="0">
                <a:solidFill>
                  <a:srgbClr val="1F2937"/>
                </a:solidFill>
                <a:latin typeface="Calibri"/>
              </a:rPr>
              <a:t>7 / 7 correct, 0 critical errors, 8.35 s median on 5 pilot claims (7 checks). Rules were tuned on these cases; not yet human-reviewed.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685800" y="7857430"/>
            <a:ext cx="7863840" cy="1515169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TextBox 350"/>
          <p:cNvSpPr txBox="1"/>
          <p:nvPr/>
        </p:nvSpPr>
        <p:spPr>
          <a:xfrm>
            <a:off x="914400" y="794887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0F766E"/>
                </a:solidFill>
                <a:latin typeface="Poppins"/>
              </a:rPr>
              <a:t>BENEFITS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914400" y="8314630"/>
            <a:ext cx="7452360" cy="101224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200"/>
              </a:spcAft>
              <a:buClr>
                <a:srgbClr val="0D9488"/>
              </a:buClr>
              <a:buFont typeface="Arial"/>
              <a:buChar char="•"/>
            </a:pPr>
            <a:r>
              <a:rPr sz="1540" b="1">
                <a:solidFill>
                  <a:srgbClr val="0B1B2E"/>
                </a:solidFill>
                <a:latin typeface="Calibri"/>
              </a:rPr>
              <a:t>Responders: </a:t>
            </a:r>
            <a:r>
              <a:rPr sz="1540" b="0">
                <a:solidFill>
                  <a:srgbClr val="1F2937"/>
                </a:solidFill>
                <a:latin typeface="Calibri"/>
              </a:rPr>
              <a:t>triage with the evidence attached</a:t>
            </a:r>
          </a:p>
          <a:p>
            <a:pPr algn="l" marL="256032" indent="-256032">
              <a:spcAft>
                <a:spcPts val="200"/>
              </a:spcAft>
              <a:buClr>
                <a:srgbClr val="0D9488"/>
              </a:buClr>
              <a:buFont typeface="Arial"/>
              <a:buChar char="•"/>
            </a:pPr>
            <a:r>
              <a:rPr sz="1540" b="1">
                <a:solidFill>
                  <a:srgbClr val="0B1B2E"/>
                </a:solidFill>
                <a:latin typeface="Calibri"/>
              </a:rPr>
              <a:t>Citizens: </a:t>
            </a:r>
            <a:r>
              <a:rPr sz="1540" b="0">
                <a:solidFill>
                  <a:srgbClr val="1F2937"/>
                </a:solidFill>
                <a:latin typeface="Calibri"/>
              </a:rPr>
              <a:t>alarms only for verified threats</a:t>
            </a:r>
          </a:p>
          <a:p>
            <a:pPr algn="l" marL="256032" indent="-256032">
              <a:spcAft>
                <a:spcPts val="200"/>
              </a:spcAft>
              <a:buClr>
                <a:srgbClr val="0D9488"/>
              </a:buClr>
              <a:buFont typeface="Arial"/>
              <a:buChar char="•"/>
            </a:pPr>
            <a:r>
              <a:rPr sz="1540" b="1">
                <a:solidFill>
                  <a:srgbClr val="0B1B2E"/>
                </a:solidFill>
                <a:latin typeface="Calibri"/>
              </a:rPr>
              <a:t>Authorities: </a:t>
            </a:r>
            <a:r>
              <a:rPr sz="1540" b="0">
                <a:solidFill>
                  <a:srgbClr val="1F2937"/>
                </a:solidFill>
                <a:latin typeface="Calibri"/>
              </a:rPr>
              <a:t>see which rumours spread where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8915400" y="21945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870" b="1">
                <a:solidFill>
                  <a:srgbClr val="0F766E"/>
                </a:solidFill>
                <a:latin typeface="Poppins"/>
              </a:rPr>
              <a:t>RISKS &amp; MITIGATIONS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8915400" y="2651760"/>
            <a:ext cx="8686800" cy="4572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TextBox 354"/>
          <p:cNvSpPr txBox="1"/>
          <p:nvPr/>
        </p:nvSpPr>
        <p:spPr>
          <a:xfrm>
            <a:off x="9052560" y="26517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Risk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12618720" y="26517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Poppins"/>
              </a:rPr>
              <a:t>Mitigation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8915400" y="3108960"/>
            <a:ext cx="8686800" cy="7132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TextBox 357"/>
          <p:cNvSpPr txBox="1"/>
          <p:nvPr/>
        </p:nvSpPr>
        <p:spPr>
          <a:xfrm>
            <a:off x="9052560" y="3108960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1">
                <a:solidFill>
                  <a:srgbClr val="0B1B2E"/>
                </a:solidFill>
                <a:latin typeface="Calibri"/>
              </a:rPr>
              <a:t>NLI misreads short or slangy posts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2618720" y="3108960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0">
                <a:solidFill>
                  <a:srgbClr val="1F2937"/>
                </a:solidFill>
                <a:latin typeface="Calibri"/>
              </a:rPr>
              <a:t>Numeric, geo and time rules come first; disagreement → Unverified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8915400" y="3822191"/>
            <a:ext cx="8686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TextBox 360"/>
          <p:cNvSpPr txBox="1"/>
          <p:nvPr/>
        </p:nvSpPr>
        <p:spPr>
          <a:xfrm>
            <a:off x="9052560" y="3822191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1">
                <a:solidFill>
                  <a:srgbClr val="0B1B2E"/>
                </a:solidFill>
                <a:latin typeface="Calibri"/>
              </a:rPr>
              <a:t>Live feeds down at the venue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2618720" y="3822191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0">
                <a:solidFill>
                  <a:srgbClr val="1F2937"/>
                </a:solidFill>
                <a:latin typeface="Calibri"/>
              </a:rPr>
              <a:t>Snapshot mode serves cached feeds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8915400" y="4535424"/>
            <a:ext cx="8686800" cy="7132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TextBox 363"/>
          <p:cNvSpPr txBox="1"/>
          <p:nvPr/>
        </p:nvSpPr>
        <p:spPr>
          <a:xfrm>
            <a:off x="9052560" y="4535424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1">
                <a:solidFill>
                  <a:srgbClr val="0B1B2E"/>
                </a:solidFill>
                <a:latin typeface="Calibri"/>
              </a:rPr>
              <a:t>Local news early but wrong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2618720" y="4535424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0">
                <a:solidFill>
                  <a:srgbClr val="1F2937"/>
                </a:solidFill>
                <a:latin typeface="Calibri"/>
              </a:rPr>
              <a:t>Lower trust than official / sensor layers; conflicts shown side by side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915400" y="5248656"/>
            <a:ext cx="86868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TextBox 366"/>
          <p:cNvSpPr txBox="1"/>
          <p:nvPr/>
        </p:nvSpPr>
        <p:spPr>
          <a:xfrm>
            <a:off x="9052560" y="5248656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1">
                <a:solidFill>
                  <a:srgbClr val="0B1B2E"/>
                </a:solidFill>
                <a:latin typeface="Calibri"/>
              </a:rPr>
              <a:t>Copied stories inflate confidence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2618720" y="5248656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0">
                <a:solidFill>
                  <a:srgbClr val="1F2937"/>
                </a:solidFill>
                <a:latin typeface="Calibri"/>
              </a:rPr>
              <a:t>Copies grouped; each group counts once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915400" y="5961888"/>
            <a:ext cx="8686800" cy="7132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TextBox 369"/>
          <p:cNvSpPr txBox="1"/>
          <p:nvPr/>
        </p:nvSpPr>
        <p:spPr>
          <a:xfrm>
            <a:off x="9052560" y="5961888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1">
                <a:solidFill>
                  <a:srgbClr val="0B1B2E"/>
                </a:solidFill>
                <a:latin typeface="Calibri"/>
              </a:rPr>
              <a:t>Gemini unavailable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2618720" y="5961888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540" b="0">
                <a:solidFill>
                  <a:srgbClr val="1F2937"/>
                </a:solidFill>
                <a:latin typeface="Calibri"/>
              </a:rPr>
              <a:t>Retry, lighter model, then rules-only extraction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8915400" y="6903720"/>
            <a:ext cx="8686800" cy="246888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TextBox 372"/>
          <p:cNvSpPr txBox="1"/>
          <p:nvPr/>
        </p:nvSpPr>
        <p:spPr>
          <a:xfrm>
            <a:off x="9144000" y="7013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870" b="1">
                <a:solidFill>
                  <a:srgbClr val="0F766E"/>
                </a:solidFill>
                <a:latin typeface="Poppins"/>
              </a:rPr>
              <a:t>FEASIBILITY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9144000" y="7452360"/>
            <a:ext cx="827532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56032">
              <a:spcAft>
                <a:spcPts val="800"/>
              </a:spcAft>
              <a:buClr>
                <a:srgbClr val="0D9488"/>
              </a:buClr>
              <a:buFont typeface="Arial"/>
              <a:buChar char="•"/>
            </a:pPr>
            <a:r>
              <a:rPr sz="1870" b="1">
                <a:solidFill>
                  <a:srgbClr val="0B1B2E"/>
                </a:solidFill>
                <a:latin typeface="Calibri"/>
              </a:rPr>
              <a:t>Technical: </a:t>
            </a:r>
            <a:r>
              <a:rPr sz="1870" b="0">
                <a:solidFill>
                  <a:srgbClr val="1F2937"/>
                </a:solidFill>
                <a:latin typeface="Calibri"/>
              </a:rPr>
              <a:t>one laptop; local NLI + embedding models; free public feeds, no paid APIs</a:t>
            </a:r>
          </a:p>
          <a:p>
            <a:pPr algn="l" marL="256032" indent="-256032">
              <a:spcAft>
                <a:spcPts val="800"/>
              </a:spcAft>
              <a:buClr>
                <a:srgbClr val="0D9488"/>
              </a:buClr>
              <a:buFont typeface="Arial"/>
              <a:buChar char="•"/>
            </a:pPr>
            <a:r>
              <a:rPr sz="1870" b="1">
                <a:solidFill>
                  <a:srgbClr val="0B1B2E"/>
                </a:solidFill>
                <a:latin typeface="Calibri"/>
              </a:rPr>
              <a:t>Operational: </a:t>
            </a:r>
            <a:r>
              <a:rPr sz="1870" b="0">
                <a:solidFill>
                  <a:srgbClr val="1F2937"/>
                </a:solidFill>
                <a:latin typeface="Calibri"/>
              </a:rPr>
              <a:t>NDMA SACHET CAP is public and structured; snapshot mode works offline</a:t>
            </a:r>
          </a:p>
          <a:p>
            <a:pPr algn="l" marL="256032" indent="-256032">
              <a:spcAft>
                <a:spcPts val="800"/>
              </a:spcAft>
              <a:buClr>
                <a:srgbClr val="0D9488"/>
              </a:buClr>
              <a:buFont typeface="Arial"/>
              <a:buChar char="•"/>
            </a:pPr>
            <a:r>
              <a:rPr sz="1870" b="1">
                <a:solidFill>
                  <a:srgbClr val="0B1B2E"/>
                </a:solidFill>
                <a:latin typeface="Calibri"/>
              </a:rPr>
              <a:t>Workflow: </a:t>
            </a:r>
            <a:r>
              <a:rPr sz="1870" b="0">
                <a:solidFill>
                  <a:srgbClr val="1F2937"/>
                </a:solidFill>
                <a:latin typeface="Calibri"/>
              </a:rPr>
              <a:t>control rooms already triage reports; the Console adds the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351" name="Google Shape;351;p9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52" name="Google Shape;352;p9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353" name="Google Shape;353;p9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4.png" id="354" name="Google Shape;354;p9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13.png" id="355" name="Google Shape;355;p9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descr="input_file_5.png" id="356" name="Google Shape;356;p9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57" name="Google Shape;357;p9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/>
          <a:p/>
        </p:txBody>
      </p:sp>
      <p:sp>
        <p:nvSpPr>
          <p:cNvPr descr="input_file_9.png" id="358" name="Google Shape;358;p9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59" name="Google Shape;359;p9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9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361" name="Google Shape;361;p9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  <p:txBody>
            <a:bodyPr/>
            <a:p/>
          </p:txBody>
        </p:sp>
        <p:sp>
          <p:nvSpPr>
            <p:cNvPr id="362" name="Google Shape;362;p9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Implemented vs Planned</a:t>
              </a:r>
              <a:endParaRPr/>
            </a:p>
          </p:txBody>
        </p:sp>
      </p:grpSp>
      <p:sp>
        <p:nvSpPr>
          <p:cNvPr id="363" name="Google Shape;363;p9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364" name="Google Shape;364;p9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365" name="Google Shape;365;p9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366" name="Google Shape;366;p9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367" name="Google Shape;367;p9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68" name="Google Shape;368;p9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69" name="Google Shape;369;p9"/>
          <p:cNvGrpSpPr/>
          <p:nvPr/>
        </p:nvGrpSpPr>
        <p:grpSpPr>
          <a:xfrm>
            <a:off x="16259289" y="9667874"/>
            <a:ext cx="1387030" cy="492988"/>
            <a:chOff x="0" y="-19050"/>
            <a:chExt cx="1849374" cy="657317"/>
          </a:xfrm>
        </p:grpSpPr>
        <p:sp>
          <p:nvSpPr>
            <p:cNvPr id="370" name="Google Shape;370;p9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9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9/ 10</a:t>
              </a:r>
              <a:endParaRPr/>
            </a:p>
          </p:txBody>
        </p:sp>
      </p:grpSp>
      <p:sp>
        <p:nvSpPr>
          <p:cNvPr id="372" name="Google Shape;372;p9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373" name="Rounded Rectangle 372"/>
          <p:cNvSpPr/>
          <p:nvPr/>
        </p:nvSpPr>
        <p:spPr>
          <a:xfrm>
            <a:off x="685800" y="2194560"/>
            <a:ext cx="5486400" cy="7178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ounded Rectangle 373"/>
          <p:cNvSpPr/>
          <p:nvPr/>
        </p:nvSpPr>
        <p:spPr>
          <a:xfrm>
            <a:off x="685800" y="2194560"/>
            <a:ext cx="5486400" cy="731520"/>
          </a:xfrm>
          <a:prstGeom prst="roundRect">
            <a:avLst>
              <a:gd name="adj" fmla="val 18749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685800" y="2606040"/>
            <a:ext cx="5486400" cy="32004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TextBox 375"/>
          <p:cNvSpPr txBox="1"/>
          <p:nvPr/>
        </p:nvSpPr>
        <p:spPr>
          <a:xfrm>
            <a:off x="914400" y="21945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2130" b="1">
                <a:solidFill>
                  <a:srgbClr val="FFFFFF"/>
                </a:solidFill>
                <a:latin typeface="Poppins"/>
              </a:rPr>
              <a:t>PS-2 core: implemented</a:t>
            </a:r>
          </a:p>
        </p:txBody>
      </p:sp>
      <p:pic>
        <p:nvPicPr>
          <p:cNvPr id="377" name="Picture 376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3218688"/>
            <a:ext cx="347472" cy="347472"/>
          </a:xfrm>
          <a:prstGeom prst="rect">
            <a:avLst/>
          </a:prstGeom>
        </p:spPr>
      </p:pic>
      <p:sp>
        <p:nvSpPr>
          <p:cNvPr id="378" name="TextBox 377"/>
          <p:cNvSpPr txBox="1"/>
          <p:nvPr/>
        </p:nvSpPr>
        <p:spPr>
          <a:xfrm>
            <a:off x="1463040" y="3154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Claim extraction (atomic facts)</a:t>
            </a:r>
          </a:p>
        </p:txBody>
      </p:sp>
      <p:pic>
        <p:nvPicPr>
          <p:cNvPr id="379" name="Picture 378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3904488"/>
            <a:ext cx="347472" cy="347472"/>
          </a:xfrm>
          <a:prstGeom prst="rect">
            <a:avLst/>
          </a:prstGeom>
        </p:spPr>
      </p:pic>
      <p:sp>
        <p:nvSpPr>
          <p:cNvPr id="380" name="TextBox 379"/>
          <p:cNvSpPr txBox="1"/>
          <p:nvPr/>
        </p:nvSpPr>
        <p:spPr>
          <a:xfrm>
            <a:off x="1463040" y="3840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Source comparison, 5 layers</a:t>
            </a:r>
          </a:p>
        </p:txBody>
      </p:sp>
      <p:pic>
        <p:nvPicPr>
          <p:cNvPr id="381" name="Picture 380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4590288"/>
            <a:ext cx="347472" cy="347472"/>
          </a:xfrm>
          <a:prstGeom prst="rect">
            <a:avLst/>
          </a:prstGeom>
        </p:spPr>
      </p:pic>
      <p:sp>
        <p:nvSpPr>
          <p:cNvPr id="382" name="TextBox 381"/>
          <p:cNvSpPr txBox="1"/>
          <p:nvPr/>
        </p:nvSpPr>
        <p:spPr>
          <a:xfrm>
            <a:off x="1463040" y="45262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Freshness via validity windows</a:t>
            </a:r>
          </a:p>
        </p:txBody>
      </p:sp>
      <p:pic>
        <p:nvPicPr>
          <p:cNvPr id="383" name="Picture 382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5276088"/>
            <a:ext cx="347472" cy="347472"/>
          </a:xfrm>
          <a:prstGeom prst="rect">
            <a:avLst/>
          </a:prstGeom>
        </p:spPr>
      </p:pic>
      <p:sp>
        <p:nvSpPr>
          <p:cNvPr id="384" name="TextBox 383"/>
          <p:cNvSpPr txBox="1"/>
          <p:nvPr/>
        </p:nvSpPr>
        <p:spPr>
          <a:xfrm>
            <a:off x="1463040" y="5212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Contradiction detection</a:t>
            </a:r>
          </a:p>
        </p:txBody>
      </p:sp>
      <p:pic>
        <p:nvPicPr>
          <p:cNvPr id="385" name="Picture 384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5961888"/>
            <a:ext cx="347472" cy="347472"/>
          </a:xfrm>
          <a:prstGeom prst="rect">
            <a:avLst/>
          </a:prstGeom>
        </p:spPr>
      </p:pic>
      <p:sp>
        <p:nvSpPr>
          <p:cNvPr id="386" name="TextBox 385"/>
          <p:cNvSpPr txBox="1"/>
          <p:nvPr/>
        </p:nvSpPr>
        <p:spPr>
          <a:xfrm>
            <a:off x="1463040" y="5897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Geographic verification</a:t>
            </a:r>
          </a:p>
        </p:txBody>
      </p:sp>
      <p:pic>
        <p:nvPicPr>
          <p:cNvPr id="387" name="Picture 386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6647688"/>
            <a:ext cx="347472" cy="347472"/>
          </a:xfrm>
          <a:prstGeom prst="rect">
            <a:avLst/>
          </a:prstGeom>
        </p:spPr>
      </p:pic>
      <p:sp>
        <p:nvSpPr>
          <p:cNvPr id="388" name="TextBox 387"/>
          <p:cNvSpPr txBox="1"/>
          <p:nvPr/>
        </p:nvSpPr>
        <p:spPr>
          <a:xfrm>
            <a:off x="1463040" y="6583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Evidence For / Against per claim</a:t>
            </a:r>
          </a:p>
        </p:txBody>
      </p:sp>
      <p:pic>
        <p:nvPicPr>
          <p:cNvPr id="389" name="Picture 388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7333488"/>
            <a:ext cx="347472" cy="347472"/>
          </a:xfrm>
          <a:prstGeom prst="rect">
            <a:avLst/>
          </a:prstGeom>
        </p:spPr>
      </p:pic>
      <p:sp>
        <p:nvSpPr>
          <p:cNvPr id="390" name="TextBox 389"/>
          <p:cNvSpPr txBox="1"/>
          <p:nvPr/>
        </p:nvSpPr>
        <p:spPr>
          <a:xfrm>
            <a:off x="1463040" y="7269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4 statuses</a:t>
            </a:r>
          </a:p>
        </p:txBody>
      </p:sp>
      <p:pic>
        <p:nvPicPr>
          <p:cNvPr id="391" name="Picture 390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8019288"/>
            <a:ext cx="347472" cy="347472"/>
          </a:xfrm>
          <a:prstGeom prst="rect">
            <a:avLst/>
          </a:prstGeom>
        </p:spPr>
      </p:pic>
      <p:sp>
        <p:nvSpPr>
          <p:cNvPr id="392" name="TextBox 391"/>
          <p:cNvSpPr txBox="1"/>
          <p:nvPr/>
        </p:nvSpPr>
        <p:spPr>
          <a:xfrm>
            <a:off x="1463040" y="7955279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Dashboard + interactive map</a:t>
            </a:r>
          </a:p>
        </p:txBody>
      </p:sp>
      <p:sp>
        <p:nvSpPr>
          <p:cNvPr id="393" name="Rounded Rectangle 392"/>
          <p:cNvSpPr/>
          <p:nvPr/>
        </p:nvSpPr>
        <p:spPr>
          <a:xfrm>
            <a:off x="6400800" y="2194560"/>
            <a:ext cx="5486400" cy="7178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ounded Rectangle 393"/>
          <p:cNvSpPr/>
          <p:nvPr/>
        </p:nvSpPr>
        <p:spPr>
          <a:xfrm>
            <a:off x="6400800" y="2194560"/>
            <a:ext cx="5486400" cy="731520"/>
          </a:xfrm>
          <a:prstGeom prst="roundRect">
            <a:avLst>
              <a:gd name="adj" fmla="val 1874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6400800" y="2606040"/>
            <a:ext cx="5486400" cy="320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TextBox 395"/>
          <p:cNvSpPr txBox="1"/>
          <p:nvPr/>
        </p:nvSpPr>
        <p:spPr>
          <a:xfrm>
            <a:off x="6629400" y="21945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2130" b="1">
                <a:solidFill>
                  <a:srgbClr val="FFFFFF"/>
                </a:solidFill>
                <a:latin typeface="Poppins"/>
              </a:rPr>
              <a:t>Beyond the brief: implemented</a:t>
            </a:r>
          </a:p>
        </p:txBody>
      </p:sp>
      <p:pic>
        <p:nvPicPr>
          <p:cNvPr id="397" name="Picture 396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3218688"/>
            <a:ext cx="347472" cy="347472"/>
          </a:xfrm>
          <a:prstGeom prst="rect">
            <a:avLst/>
          </a:prstGeom>
        </p:spPr>
      </p:pic>
      <p:sp>
        <p:nvSpPr>
          <p:cNvPr id="398" name="TextBox 397"/>
          <p:cNvSpPr txBox="1"/>
          <p:nvPr/>
        </p:nvSpPr>
        <p:spPr>
          <a:xfrm>
            <a:off x="7178040" y="3154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Beacon citizen app (verified-only alarm)</a:t>
            </a:r>
          </a:p>
        </p:txBody>
      </p:sp>
      <p:pic>
        <p:nvPicPr>
          <p:cNvPr id="399" name="Picture 398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3904488"/>
            <a:ext cx="347472" cy="347472"/>
          </a:xfrm>
          <a:prstGeom prst="rect">
            <a:avLst/>
          </a:prstGeom>
        </p:spPr>
      </p:pic>
      <p:sp>
        <p:nvSpPr>
          <p:cNvPr id="400" name="TextBox 399"/>
          <p:cNvSpPr txBox="1"/>
          <p:nvPr/>
        </p:nvSpPr>
        <p:spPr>
          <a:xfrm>
            <a:off x="7178040" y="3840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Rumour-check cards</a:t>
            </a:r>
          </a:p>
        </p:txBody>
      </p:sp>
      <p:pic>
        <p:nvPicPr>
          <p:cNvPr id="401" name="Picture 400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4590288"/>
            <a:ext cx="347472" cy="347472"/>
          </a:xfrm>
          <a:prstGeom prst="rect">
            <a:avLst/>
          </a:prstGeom>
        </p:spPr>
      </p:pic>
      <p:sp>
        <p:nvSpPr>
          <p:cNvPr id="402" name="TextBox 401"/>
          <p:cNvSpPr txBox="1"/>
          <p:nvPr/>
        </p:nvSpPr>
        <p:spPr>
          <a:xfrm>
            <a:off x="7178040" y="45262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HISTORICAL vs CURRENT verdicts</a:t>
            </a:r>
          </a:p>
        </p:txBody>
      </p:sp>
      <p:pic>
        <p:nvPicPr>
          <p:cNvPr id="403" name="Picture 402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5276088"/>
            <a:ext cx="347472" cy="347472"/>
          </a:xfrm>
          <a:prstGeom prst="rect">
            <a:avLst/>
          </a:prstGeom>
        </p:spPr>
      </p:pic>
      <p:sp>
        <p:nvSpPr>
          <p:cNvPr id="404" name="TextBox 403"/>
          <p:cNvSpPr txBox="1"/>
          <p:nvPr/>
        </p:nvSpPr>
        <p:spPr>
          <a:xfrm>
            <a:off x="7178040" y="5212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Event binding (Puebla vs Tehuantepec)</a:t>
            </a:r>
          </a:p>
        </p:txBody>
      </p:sp>
      <p:pic>
        <p:nvPicPr>
          <p:cNvPr id="405" name="Picture 404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5961888"/>
            <a:ext cx="347472" cy="347472"/>
          </a:xfrm>
          <a:prstGeom prst="rect">
            <a:avLst/>
          </a:prstGeom>
        </p:spPr>
      </p:pic>
      <p:sp>
        <p:nvSpPr>
          <p:cNvPr id="406" name="TextBox 405"/>
          <p:cNvSpPr txBox="1"/>
          <p:nvPr/>
        </p:nvSpPr>
        <p:spPr>
          <a:xfrm>
            <a:off x="7178040" y="5897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Copied stories count once</a:t>
            </a:r>
          </a:p>
        </p:txBody>
      </p:sp>
      <p:pic>
        <p:nvPicPr>
          <p:cNvPr id="407" name="Picture 406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6647688"/>
            <a:ext cx="347472" cy="347472"/>
          </a:xfrm>
          <a:prstGeom prst="rect">
            <a:avLst/>
          </a:prstGeom>
        </p:spPr>
      </p:pic>
      <p:sp>
        <p:nvSpPr>
          <p:cNvPr id="408" name="TextBox 407"/>
          <p:cNvSpPr txBox="1"/>
          <p:nvPr/>
        </p:nvSpPr>
        <p:spPr>
          <a:xfrm>
            <a:off x="7178040" y="6583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Hindi / Marathi posts</a:t>
            </a:r>
          </a:p>
        </p:txBody>
      </p:sp>
      <p:pic>
        <p:nvPicPr>
          <p:cNvPr id="409" name="Picture 408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7333488"/>
            <a:ext cx="347472" cy="347472"/>
          </a:xfrm>
          <a:prstGeom prst="rect">
            <a:avLst/>
          </a:prstGeom>
        </p:spPr>
      </p:pic>
      <p:sp>
        <p:nvSpPr>
          <p:cNvPr id="410" name="TextBox 409"/>
          <p:cNvSpPr txBox="1"/>
          <p:nvPr/>
        </p:nvSpPr>
        <p:spPr>
          <a:xfrm>
            <a:off x="7178040" y="7269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Live NDMA SACHET CAP polygons</a:t>
            </a:r>
          </a:p>
        </p:txBody>
      </p:sp>
      <p:pic>
        <p:nvPicPr>
          <p:cNvPr id="411" name="Picture 410" descr="ok_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8019288"/>
            <a:ext cx="347472" cy="347472"/>
          </a:xfrm>
          <a:prstGeom prst="rect">
            <a:avLst/>
          </a:prstGeom>
        </p:spPr>
      </p:pic>
      <p:sp>
        <p:nvSpPr>
          <p:cNvPr id="412" name="TextBox 411"/>
          <p:cNvSpPr txBox="1"/>
          <p:nvPr/>
        </p:nvSpPr>
        <p:spPr>
          <a:xfrm>
            <a:off x="7178040" y="7955279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F2937"/>
                </a:solidFill>
                <a:latin typeface="Calibri"/>
              </a:rPr>
              <a:t>Offline snapshot mode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12115800" y="2194560"/>
            <a:ext cx="5486400" cy="717804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A7B2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TextBox 413"/>
          <p:cNvSpPr txBox="1"/>
          <p:nvPr/>
        </p:nvSpPr>
        <p:spPr>
          <a:xfrm>
            <a:off x="12344400" y="21945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2130" b="1">
                <a:solidFill>
                  <a:srgbClr val="6B7785"/>
                </a:solidFill>
                <a:latin typeface="Poppins"/>
              </a:rPr>
              <a:t>Planned: not built yet</a:t>
            </a:r>
          </a:p>
        </p:txBody>
      </p:sp>
      <p:pic>
        <p:nvPicPr>
          <p:cNvPr id="415" name="Picture 414" descr="hourglass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0120" y="3218688"/>
            <a:ext cx="347472" cy="347472"/>
          </a:xfrm>
          <a:prstGeom prst="rect">
            <a:avLst/>
          </a:prstGeom>
        </p:spPr>
      </p:pic>
      <p:sp>
        <p:nvSpPr>
          <p:cNvPr id="416" name="TextBox 415"/>
          <p:cNvSpPr txBox="1"/>
          <p:nvPr/>
        </p:nvSpPr>
        <p:spPr>
          <a:xfrm>
            <a:off x="12893040" y="3154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6B7785"/>
                </a:solidFill>
                <a:latin typeface="Calibri"/>
              </a:rPr>
              <a:t>~50-case human-reviewed benchmark</a:t>
            </a:r>
          </a:p>
        </p:txBody>
      </p:sp>
      <p:pic>
        <p:nvPicPr>
          <p:cNvPr id="417" name="Picture 416" descr="hourglass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0120" y="3904488"/>
            <a:ext cx="347472" cy="347472"/>
          </a:xfrm>
          <a:prstGeom prst="rect">
            <a:avLst/>
          </a:prstGeom>
        </p:spPr>
      </p:pic>
      <p:sp>
        <p:nvSpPr>
          <p:cNvPr id="418" name="TextBox 417"/>
          <p:cNvSpPr txBox="1"/>
          <p:nvPr/>
        </p:nvSpPr>
        <p:spPr>
          <a:xfrm>
            <a:off x="12893040" y="38404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6B7785"/>
                </a:solidFill>
                <a:latin typeface="Calibri"/>
              </a:rPr>
              <a:t>Review UI for that benchmark</a:t>
            </a:r>
          </a:p>
        </p:txBody>
      </p:sp>
      <p:pic>
        <p:nvPicPr>
          <p:cNvPr id="419" name="Picture 418" descr="hourglass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0120" y="4590288"/>
            <a:ext cx="347472" cy="347472"/>
          </a:xfrm>
          <a:prstGeom prst="rect">
            <a:avLst/>
          </a:prstGeom>
        </p:spPr>
      </p:pic>
      <p:sp>
        <p:nvSpPr>
          <p:cNvPr id="420" name="TextBox 419"/>
          <p:cNvSpPr txBox="1"/>
          <p:nvPr/>
        </p:nvSpPr>
        <p:spPr>
          <a:xfrm>
            <a:off x="12893040" y="45262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6B7785"/>
                </a:solidFill>
                <a:latin typeface="Calibri"/>
              </a:rPr>
              <a:t>Recycled image / video checks</a:t>
            </a:r>
          </a:p>
        </p:txBody>
      </p:sp>
      <p:pic>
        <p:nvPicPr>
          <p:cNvPr id="421" name="Picture 420" descr="hourglass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0120" y="5276088"/>
            <a:ext cx="347472" cy="347472"/>
          </a:xfrm>
          <a:prstGeom prst="rect">
            <a:avLst/>
          </a:prstGeom>
        </p:spPr>
      </p:pic>
      <p:sp>
        <p:nvSpPr>
          <p:cNvPr id="422" name="TextBox 421"/>
          <p:cNvSpPr txBox="1"/>
          <p:nvPr/>
        </p:nvSpPr>
        <p:spPr>
          <a:xfrm>
            <a:off x="12893040" y="5212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6B7785"/>
                </a:solidFill>
                <a:latin typeface="Calibri"/>
              </a:rPr>
              <a:t>Mobile push notifications</a:t>
            </a:r>
          </a:p>
        </p:txBody>
      </p:sp>
      <p:pic>
        <p:nvPicPr>
          <p:cNvPr id="423" name="Picture 422" descr="hourglass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0120" y="5961888"/>
            <a:ext cx="347472" cy="347472"/>
          </a:xfrm>
          <a:prstGeom prst="rect">
            <a:avLst/>
          </a:prstGeom>
        </p:spPr>
      </p:pic>
      <p:sp>
        <p:nvSpPr>
          <p:cNvPr id="424" name="TextBox 423"/>
          <p:cNvSpPr txBox="1"/>
          <p:nvPr/>
        </p:nvSpPr>
        <p:spPr>
          <a:xfrm>
            <a:off x="12893040" y="5897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6B7785"/>
                </a:solidFill>
                <a:latin typeface="Calibri"/>
              </a:rPr>
              <a:t>GPU acceleration</a:t>
            </a:r>
          </a:p>
        </p:txBody>
      </p:sp>
      <p:sp>
        <p:nvSpPr>
          <p:cNvPr id="425" name="Rounded Rectangle 424"/>
          <p:cNvSpPr/>
          <p:nvPr/>
        </p:nvSpPr>
        <p:spPr>
          <a:xfrm>
            <a:off x="12161520" y="6812280"/>
            <a:ext cx="516636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TextBox 425"/>
          <p:cNvSpPr txBox="1"/>
          <p:nvPr/>
        </p:nvSpPr>
        <p:spPr>
          <a:xfrm>
            <a:off x="12344400" y="690372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680" b="1">
                <a:solidFill>
                  <a:srgbClr val="0B1B2E"/>
                </a:solidFill>
                <a:latin typeface="Poppins"/>
              </a:rPr>
              <a:t>Why it matters</a:t>
            </a:r>
          </a:p>
          <a:p>
            <a:pPr algn="l">
              <a:spcAft>
                <a:spcPts val="600"/>
              </a:spcAft>
            </a:pPr>
            <a:r>
              <a:rPr sz="1680" b="0">
                <a:solidFill>
                  <a:srgbClr val="4B5563"/>
                </a:solidFill>
                <a:latin typeface="Calibri"/>
              </a:rPr>
              <a:t>Evaluation covers 5 pilot claims so far. The reviewed benchmark comes before any accuracy claim.</a:t>
            </a:r>
          </a:p>
          <a:p>
            <a:pPr algn="l">
              <a:spcAft>
                <a:spcPts val="600"/>
              </a:spcAft>
            </a:pPr>
            <a:r>
              <a:rPr sz="1680" b="0">
                <a:solidFill>
                  <a:srgbClr val="4B5563"/>
                </a:solidFill>
                <a:latin typeface="Calibri"/>
              </a:rPr>
              <a:t>Demo posts (Pune flood, Delhi quake) are synthetic and labelled; live NDMA / GDACS alerts are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da3870ce27e571c_0_0"/>
          <p:cNvSpPr/>
          <p:nvPr/>
        </p:nvSpPr>
        <p:spPr>
          <a:xfrm>
            <a:off x="516760" y="668003"/>
            <a:ext cx="17270605" cy="1115401"/>
          </a:xfrm>
          <a:custGeom>
            <a:rect b="b" l="l" r="r" t="t"/>
            <a:pathLst>
              <a:path extrusionOk="0" h="1487201" w="23027473">
                <a:moveTo>
                  <a:pt x="261427" y="0"/>
                </a:moveTo>
                <a:lnTo>
                  <a:pt x="22766046" y="0"/>
                </a:lnTo>
                <a:cubicBezTo>
                  <a:pt x="22910428" y="0"/>
                  <a:pt x="23027473" y="117045"/>
                  <a:pt x="23027473" y="261427"/>
                </a:cubicBezTo>
                <a:lnTo>
                  <a:pt x="23027473" y="1225774"/>
                </a:lnTo>
                <a:cubicBezTo>
                  <a:pt x="23027473" y="1370156"/>
                  <a:pt x="22910428" y="1487201"/>
                  <a:pt x="22766046" y="1487201"/>
                </a:cubicBezTo>
                <a:lnTo>
                  <a:pt x="261427" y="1487201"/>
                </a:lnTo>
                <a:cubicBezTo>
                  <a:pt x="117045" y="1487201"/>
                  <a:pt x="0" y="1370156"/>
                  <a:pt x="0" y="1225774"/>
                </a:cubicBezTo>
                <a:lnTo>
                  <a:pt x="0" y="261427"/>
                </a:lnTo>
                <a:cubicBezTo>
                  <a:pt x="0" y="117045"/>
                  <a:pt x="117045" y="0"/>
                  <a:pt x="261427" y="0"/>
                </a:cubicBezTo>
                <a:close/>
              </a:path>
            </a:pathLst>
          </a:custGeom>
          <a:solidFill>
            <a:srgbClr val="EAF7FC"/>
          </a:solidFill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hda3870ce27e571c_0_0"/>
          <p:cNvSpPr/>
          <p:nvPr/>
        </p:nvSpPr>
        <p:spPr>
          <a:xfrm>
            <a:off x="11814581" y="817140"/>
            <a:ext cx="5800916" cy="823341"/>
          </a:xfrm>
          <a:custGeom>
            <a:rect b="b" l="l" r="r" t="t"/>
            <a:pathLst>
              <a:path extrusionOk="0" h="1097788" w="7734554">
                <a:moveTo>
                  <a:pt x="0" y="274447"/>
                </a:moveTo>
                <a:cubicBezTo>
                  <a:pt x="0" y="122934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22934"/>
                  <a:pt x="7734554" y="274447"/>
                </a:cubicBezTo>
                <a:lnTo>
                  <a:pt x="7734554" y="823341"/>
                </a:lnTo>
                <a:cubicBezTo>
                  <a:pt x="7734554" y="974854"/>
                  <a:pt x="7625842" y="1097788"/>
                  <a:pt x="7491857" y="1097788"/>
                </a:cubicBezTo>
                <a:lnTo>
                  <a:pt x="242697" y="1097788"/>
                </a:lnTo>
                <a:cubicBezTo>
                  <a:pt x="108712" y="1097788"/>
                  <a:pt x="0" y="974854"/>
                  <a:pt x="0" y="82334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383" name="Google Shape;383;hda3870ce27e571c_0_0"/>
          <p:cNvSpPr/>
          <p:nvPr/>
        </p:nvSpPr>
        <p:spPr>
          <a:xfrm>
            <a:off x="12058657" y="973679"/>
            <a:ext cx="576548" cy="576548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4.png" id="384" name="Google Shape;384;hda3870ce27e571c_0_0"/>
          <p:cNvSpPr/>
          <p:nvPr/>
        </p:nvSpPr>
        <p:spPr>
          <a:xfrm>
            <a:off x="12755147" y="973679"/>
            <a:ext cx="960882" cy="576548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13.png" id="385" name="Google Shape;385;hda3870ce27e571c_0_0"/>
          <p:cNvSpPr/>
          <p:nvPr/>
        </p:nvSpPr>
        <p:spPr>
          <a:xfrm>
            <a:off x="13906519" y="940551"/>
            <a:ext cx="2017871" cy="576548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5.png" id="386" name="Google Shape;386;hda3870ce27e571c_0_0"/>
          <p:cNvSpPr/>
          <p:nvPr/>
        </p:nvSpPr>
        <p:spPr>
          <a:xfrm>
            <a:off x="16114852" y="940551"/>
            <a:ext cx="1325404" cy="576548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hda3870ce27e571c_0_0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388" name="Google Shape;388;hda3870ce27e571c_0_0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8.png" id="389" name="Google Shape;389;hda3870ce27e571c_0_0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10" l="0" r="10" t="0"/>
            </a:stretch>
          </a:blipFill>
          <a:ln>
            <a:noFill/>
          </a:ln>
        </p:spPr>
      </p:sp>
      <p:grpSp>
        <p:nvGrpSpPr>
          <p:cNvPr id="390" name="Google Shape;390;hda3870ce27e571c_0_0"/>
          <p:cNvGrpSpPr/>
          <p:nvPr/>
        </p:nvGrpSpPr>
        <p:grpSpPr>
          <a:xfrm>
            <a:off x="1262863" y="9649330"/>
            <a:ext cx="8510625" cy="453600"/>
            <a:chOff x="0" y="-19050"/>
            <a:chExt cx="11347500" cy="604800"/>
          </a:xfrm>
        </p:grpSpPr>
        <p:sp>
          <p:nvSpPr>
            <p:cNvPr id="391" name="Google Shape;391;hda3870ce27e571c_0_0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10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92" name="Google Shape;392;hda3870ce27e571c_0_0"/>
            <p:cNvSpPr txBox="1"/>
            <p:nvPr/>
          </p:nvSpPr>
          <p:spPr>
            <a:xfrm>
              <a:off x="0" y="-19050"/>
              <a:ext cx="11347500" cy="6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93" name="Google Shape;393;hda3870ce27e571c_0_0"/>
          <p:cNvGrpSpPr/>
          <p:nvPr/>
        </p:nvGrpSpPr>
        <p:grpSpPr>
          <a:xfrm>
            <a:off x="16235686" y="9642177"/>
            <a:ext cx="1387030" cy="492988"/>
            <a:chOff x="0" y="-19050"/>
            <a:chExt cx="1849374" cy="657317"/>
          </a:xfrm>
        </p:grpSpPr>
        <p:sp>
          <p:nvSpPr>
            <p:cNvPr id="394" name="Google Shape;394;hda3870ce27e571c_0_0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hda3870ce27e571c_0_0"/>
            <p:cNvSpPr txBox="1"/>
            <p:nvPr/>
          </p:nvSpPr>
          <p:spPr>
            <a:xfrm>
              <a:off x="0" y="-19050"/>
              <a:ext cx="1849200" cy="6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10 / 10</a:t>
              </a:r>
              <a:endParaRPr/>
            </a:p>
          </p:txBody>
        </p:sp>
      </p:grpSp>
      <p:grpSp>
        <p:nvGrpSpPr>
          <p:cNvPr id="396" name="Google Shape;396;hda3870ce27e571c_0_0"/>
          <p:cNvGrpSpPr/>
          <p:nvPr/>
        </p:nvGrpSpPr>
        <p:grpSpPr>
          <a:xfrm>
            <a:off x="3276567" y="3012267"/>
            <a:ext cx="11438550" cy="2457900"/>
            <a:chOff x="0" y="-95250"/>
            <a:chExt cx="15251400" cy="3277200"/>
          </a:xfrm>
        </p:grpSpPr>
        <p:sp>
          <p:nvSpPr>
            <p:cNvPr id="397" name="Google Shape;397;hda3870ce27e571c_0_0"/>
            <p:cNvSpPr/>
            <p:nvPr/>
          </p:nvSpPr>
          <p:spPr>
            <a:xfrm>
              <a:off x="0" y="0"/>
              <a:ext cx="15251305" cy="3181811"/>
            </a:xfrm>
            <a:custGeom>
              <a:rect b="b" l="l" r="r" t="t"/>
              <a:pathLst>
                <a:path extrusionOk="0" h="3181811" w="15251305">
                  <a:moveTo>
                    <a:pt x="0" y="0"/>
                  </a:moveTo>
                  <a:lnTo>
                    <a:pt x="15251305" y="0"/>
                  </a:lnTo>
                  <a:lnTo>
                    <a:pt x="15251305" y="3181811"/>
                  </a:lnTo>
                  <a:lnTo>
                    <a:pt x="0" y="3181811"/>
                  </a:lnTo>
                  <a:close/>
                </a:path>
              </a:pathLst>
            </a:custGeom>
            <a:blipFill rotWithShape="1">
              <a:blip r:embed="rId10">
                <a:alphaModFix amt="0"/>
              </a:blip>
              <a:stretch>
                <a:fillRect b="-10070" l="0" r="0" t="-76720"/>
              </a:stretch>
            </a:blipFill>
            <a:ln>
              <a:noFill/>
            </a:ln>
          </p:spPr>
        </p:sp>
        <p:sp>
          <p:nvSpPr>
            <p:cNvPr id="398" name="Google Shape;398;hda3870ce27e571c_0_0"/>
            <p:cNvSpPr txBox="1"/>
            <p:nvPr/>
          </p:nvSpPr>
          <p:spPr>
            <a:xfrm>
              <a:off x="0" y="-95250"/>
              <a:ext cx="15251400" cy="3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6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THANK YOU!</a:t>
              </a:r>
              <a:endParaRPr/>
            </a:p>
          </p:txBody>
        </p:sp>
      </p:grpSp>
      <p:grpSp>
        <p:nvGrpSpPr>
          <p:cNvPr id="399" name="Google Shape;399;hda3870ce27e571c_0_0"/>
          <p:cNvGrpSpPr/>
          <p:nvPr/>
        </p:nvGrpSpPr>
        <p:grpSpPr>
          <a:xfrm>
            <a:off x="2832460" y="6321474"/>
            <a:ext cx="13282444" cy="893282"/>
            <a:chOff x="0" y="-28575"/>
            <a:chExt cx="15251400" cy="1025700"/>
          </a:xfrm>
        </p:grpSpPr>
        <p:sp>
          <p:nvSpPr>
            <p:cNvPr id="400" name="Google Shape;400;hda3870ce27e571c_0_0"/>
            <p:cNvSpPr/>
            <p:nvPr/>
          </p:nvSpPr>
          <p:spPr>
            <a:xfrm>
              <a:off x="0" y="0"/>
              <a:ext cx="15251305" cy="996999"/>
            </a:xfrm>
            <a:custGeom>
              <a:rect b="b" l="l" r="r" t="t"/>
              <a:pathLst>
                <a:path extrusionOk="0" h="996999" w="15251305">
                  <a:moveTo>
                    <a:pt x="0" y="0"/>
                  </a:moveTo>
                  <a:lnTo>
                    <a:pt x="15251305" y="0"/>
                  </a:lnTo>
                  <a:lnTo>
                    <a:pt x="15251305" y="996999"/>
                  </a:lnTo>
                  <a:lnTo>
                    <a:pt x="0" y="996999"/>
                  </a:lnTo>
                  <a:close/>
                </a:path>
              </a:pathLst>
            </a:custGeom>
            <a:blipFill rotWithShape="1">
              <a:blip r:embed="rId10">
                <a:alphaModFix amt="0"/>
              </a:blip>
              <a:stretch>
                <a:fillRect b="-234778" l="0" r="0" t="-261347"/>
              </a:stretch>
            </a:blipFill>
            <a:ln>
              <a:noFill/>
            </a:ln>
          </p:spPr>
        </p:sp>
        <p:sp>
          <p:nvSpPr>
            <p:cNvPr id="401" name="Google Shape;401;hda3870ce27e571c_0_0"/>
            <p:cNvSpPr txBox="1"/>
            <p:nvPr/>
          </p:nvSpPr>
          <p:spPr>
            <a:xfrm>
              <a:off x="0" y="-28575"/>
              <a:ext cx="15251400" cy="10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2" u="none" cap="none" strike="noStrike">
                  <a:solidFill>
                    <a:srgbClr val="0C94CC"/>
                  </a:solidFill>
                  <a:latin typeface="Poppins"/>
                  <a:ea typeface="Poppins"/>
                  <a:cs typeface="Poppins"/>
                  <a:sym typeface="Poppins"/>
                </a:rPr>
                <a:t>Questions &amp; Discussion</a:t>
              </a:r>
              <a:endParaRPr/>
            </a:p>
          </p:txBody>
        </p:sp>
      </p:grpSp>
      <p:sp>
        <p:nvSpPr>
          <p:cNvPr descr="input_file_10.png" id="402" name="Google Shape;402;hda3870ce27e571c_0_0"/>
          <p:cNvSpPr/>
          <p:nvPr/>
        </p:nvSpPr>
        <p:spPr>
          <a:xfrm>
            <a:off x="5490696" y="8095231"/>
            <a:ext cx="7686961" cy="1163098"/>
          </a:xfrm>
          <a:custGeom>
            <a:rect b="b" l="l" r="r" t="t"/>
            <a:pathLst>
              <a:path extrusionOk="0" h="1550797" w="10249281">
                <a:moveTo>
                  <a:pt x="0" y="0"/>
                </a:moveTo>
                <a:lnTo>
                  <a:pt x="10249281" y="0"/>
                </a:lnTo>
                <a:lnTo>
                  <a:pt x="10249281" y="1550797"/>
                </a:lnTo>
                <a:lnTo>
                  <a:pt x="0" y="15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hda3870ce27e571c_0_0"/>
          <p:cNvSpPr txBox="1"/>
          <p:nvPr/>
        </p:nvSpPr>
        <p:spPr>
          <a:xfrm>
            <a:off x="904070" y="964154"/>
            <a:ext cx="98832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2743200" y="7360920"/>
            <a:ext cx="128016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SachVerify</a:t>
            </a:r>
            <a:r>
              <a:rPr sz="1800" b="0">
                <a:solidFill>
                  <a:srgbClr val="4B5563"/>
                </a:solidFill>
                <a:latin typeface="Calibri"/>
              </a:rPr>
              <a:t>  ·  Team Alebaple  ·  </a:t>
            </a:r>
            <a:r>
              <a:rPr sz="1800" b="0">
                <a:solidFill>
                  <a:srgbClr val="4B5563"/>
                </a:solidFill>
                <a:latin typeface="Calibri"/>
                <a:hlinkClick r:id="rId12"/>
              </a:rPr>
              <a:t>github.com/DevanshNarlawar06/Alebaple_hacknova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